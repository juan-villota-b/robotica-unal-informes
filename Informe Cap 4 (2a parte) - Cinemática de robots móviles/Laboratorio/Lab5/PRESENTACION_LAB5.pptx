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Laboratorio 5: se llevan las actividades 3, 4 y 5 al TurtleBot3 en ROS2 + Gazebo.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tres nodos comparten la misma interfaz: leen /odom y publican en /cmd_vel. Un solo comando lanza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Actividad 3: seguimiento de línea. La pose se lee de /odom y el comando se publica en /cmd_vel.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Actividad 4: Pure Pursuit sobre los cuatro waypoints.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Actividad 5: regulación a un punto, con parada en el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Respuestas breves a las tres preguntas de la actividad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72768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7A7A7A"/>
                </a:solidFill>
                <a:latin typeface="Calibri"/>
              </a:rPr>
              <a:t>Laboratorio 5 — Capítulo 4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975104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6015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F3A5F"/>
                </a:solidFill>
                <a:latin typeface="Calibri"/>
              </a:rPr>
              <a:t>Seguimiento de línea, Pure Pursuit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1F3A5F"/>
                </a:solidFill>
                <a:latin typeface="Calibri"/>
              </a:rPr>
              <a:t>y punto objetivo en el TurtleBot3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24528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800" b="1">
                <a:solidFill>
                  <a:srgbClr val="1F1F1F"/>
                </a:solidFill>
                <a:latin typeface="Calibri"/>
              </a:rPr>
              <a:t>Juan David Villota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800" b="1">
                <a:solidFill>
                  <a:srgbClr val="1F1F1F"/>
                </a:solidFill>
                <a:latin typeface="Calibri"/>
              </a:rPr>
              <a:t>Jhon Hesneyder Londoño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A7A7A"/>
                </a:solidFill>
                <a:latin typeface="Calibri"/>
              </a:rPr>
              <a:t>Robótica  ·  ROS2 Lyrical  ·  Gazebo 10.5  ·  TurtleBot3 burger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Qué se hizo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7A7A"/>
                </a:solidFill>
                <a:latin typeface="Consolas"/>
              </a:rPr>
              <a:t>tres actividades, un mismo esqueleto ROS2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5852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C3C3C"/>
                </a:solidFill>
                <a:latin typeface="Calibri"/>
              </a:rPr>
              <a:t>Se pasaron las actividades 3, 4 y 5 de Python puro al TurtleBot3 sobre ROS2 + Gazebo (modelo diferencial).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sz="1600" b="1">
                <a:solidFill>
                  <a:srgbClr val="1F3A5F"/>
                </a:solidFill>
                <a:latin typeface="Calibri"/>
              </a:rPr>
              <a:t>Misma interfaz en los tres nodos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700" b="1">
                <a:solidFill>
                  <a:srgbClr val="1F1F1F"/>
                </a:solidFill>
                <a:latin typeface="Consolas"/>
              </a:rPr>
              <a:t>/odom  →  nodo  →  /cmd_vel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500" b="0">
                <a:solidFill>
                  <a:srgbClr val="3C3C3C"/>
                </a:solidFill>
                <a:latin typeface="Calibri"/>
              </a:rPr>
              <a:t>Leen la pose y publican el comando de velocidad. Solo cambia el problema de control: seguir una recta, seguir un camino o llegar a un punto.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572768"/>
            <a:ext cx="49834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810512"/>
            <a:ext cx="4434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Estructura del código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300" b="0">
                <a:solidFill>
                  <a:srgbClr val="1F1F1F"/>
                </a:solidFill>
                <a:latin typeface="Consolas"/>
              </a:rPr>
              <a:t>src/lab_robotica/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C3C3C"/>
                </a:solidFill>
                <a:latin typeface="Consolas"/>
              </a:rPr>
              <a:t>├── lab_robotica/act3_linea_turtlebot3.py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C3C3C"/>
                </a:solidFill>
                <a:latin typeface="Consolas"/>
              </a:rPr>
              <a:t>├── lab_robotica/act4_pure_pursuit_turtlebot3.py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C3C3C"/>
                </a:solidFill>
                <a:latin typeface="Consolas"/>
              </a:rPr>
              <a:t>├── lab_robotica/act5_go_to_goal.py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C3C3C"/>
                </a:solidFill>
                <a:latin typeface="Consolas"/>
              </a:rPr>
              <a:t>├── config/lab5.rviz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C3C3C"/>
                </a:solidFill>
                <a:latin typeface="Consolas"/>
              </a:rPr>
              <a:t>└── launch/lab5.launch.py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3675887"/>
            <a:ext cx="4434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El launcher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400" b="0">
                <a:solidFill>
                  <a:srgbClr val="3C3C3C"/>
                </a:solidFill>
                <a:latin typeface="Calibri"/>
              </a:rPr>
              <a:t>Un solo comando levanta Gazebo con el robot, el nodo y RViz ya configurado.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00" b="0">
                <a:solidFill>
                  <a:srgbClr val="1F1F1F"/>
                </a:solidFill>
                <a:latin typeface="Consolas"/>
              </a:rPr>
              <a:t>ros2 launch lab_robotica lab5.launch.py actividad:=4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Actividad 3 — Seguimiento de línea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7A7A"/>
                </a:solidFill>
                <a:latin typeface="Consolas"/>
              </a:rPr>
              <a:t>un arco que se convierte en recta</a:t>
            </a:r>
          </a:p>
        </p:txBody>
      </p:sp>
      <p:pic>
        <p:nvPicPr>
          <p:cNvPr id="6" name="Picture 5" descr="ac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8138160" cy="4425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05088" y="1463040"/>
            <a:ext cx="3127248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C3C3C"/>
                </a:solidFill>
                <a:latin typeface="Calibri"/>
              </a:rPr>
              <a:t>Controlador de la guía sobre el robot diferencial: el ángulo de dirección δ pasa a ser velocidad angular ω, porque en el TurtleBot3 θ' = ω.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sz="1100" b="0">
                <a:solidFill>
                  <a:srgbClr val="1F1F1F"/>
                </a:solidFill>
                <a:latin typeface="Consolas"/>
              </a:rPr>
              <a:t>distance = (a·x + b·y + c)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1F1F"/>
                </a:solidFill>
                <a:latin typeface="Consolas"/>
              </a:rPr>
              <a:t>            / √(a² + b²)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1F1F"/>
                </a:solidFill>
                <a:latin typeface="Consolas"/>
              </a:rPr>
              <a:t>θ_line = atan2(a, −b) = 26.57°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1F1F"/>
                </a:solidFill>
                <a:latin typeface="Consolas"/>
              </a:rPr>
              <a:t>ω = Kd·distance + Kh·(θ_line−θ)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5F"/>
                </a:solidFill>
                <a:latin typeface="Consolas"/>
              </a:rPr>
              <a:t>Kd = 0.5   Kh = 1.0   v = 0.15 m/s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sz="1350" b="1">
                <a:solidFill>
                  <a:srgbClr val="1F1F1F"/>
                </a:solidFill>
                <a:latin typeface="Calibri"/>
              </a:rPr>
              <a:t>Rastro curvo que se rectifica: primero gira para alinearse con la recta y después viaja sobre ella.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980176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A7A"/>
                </a:solidFill>
                <a:latin typeface="Calibri"/>
              </a:rPr>
              <a:t>Gazebo con el TurtleBot3 (izq.) y RViz con el rastro sobre /odom (der.).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Actividad 4 — Pure Pursuit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7A7A"/>
                </a:solidFill>
                <a:latin typeface="Consolas"/>
              </a:rPr>
              <a:t>dos esquinas, no una curva</a:t>
            </a:r>
          </a:p>
        </p:txBody>
      </p:sp>
      <p:pic>
        <p:nvPicPr>
          <p:cNvPr id="6" name="Picture 5" descr="ac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8138160" cy="4425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05088" y="1463040"/>
            <a:ext cx="3127248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C3C3C"/>
                </a:solidFill>
                <a:latin typeface="Calibri"/>
              </a:rPr>
              <a:t>Waypoints (0,0) → (2,4) → (6,5) → (8,10). El índice avanza cuando el waypoint queda a menos de lookahead y el recorrido termina en el último punto.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sz="1100" b="0">
                <a:solidFill>
                  <a:srgbClr val="1F1F1F"/>
                </a:solidFill>
                <a:latin typeface="Consolas"/>
              </a:rPr>
              <a:t>error = rumbo al waypoint − θ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1F1F"/>
                </a:solidFill>
                <a:latin typeface="Consolas"/>
              </a:rPr>
              <a:t>ω = Kd·error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5F"/>
                </a:solidFill>
                <a:latin typeface="Consolas"/>
              </a:rPr>
              <a:t>Kd = 1.3   lookahead = 0.5 m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5F"/>
                </a:solidFill>
                <a:latin typeface="Consolas"/>
              </a:rPr>
              <a:t>v = 0.15 m/s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sz="1350" b="1">
                <a:solidFill>
                  <a:srgbClr val="1F1F1F"/>
                </a:solidFill>
                <a:latin typeface="Calibri"/>
              </a:rPr>
              <a:t>Rastro poligonal con dos esquinas redondeadas: el robot corta la curva porque persigue un punto, no la polilínea completa.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980176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A7A"/>
                </a:solidFill>
                <a:latin typeface="Calibri"/>
              </a:rPr>
              <a:t>Gazebo (izq.) y RViz: el rastro marca los dos waypoints intermedios (der.).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Actividad 5 — Ir a un punto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7A7A"/>
                </a:solidFill>
                <a:latin typeface="Consolas"/>
              </a:rPr>
              <a:t>va recto y se detiene solo</a:t>
            </a:r>
          </a:p>
        </p:txBody>
      </p:sp>
      <p:pic>
        <p:nvPicPr>
          <p:cNvPr id="6" name="Picture 5" descr="ac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8138160" cy="4425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05088" y="1463040"/>
            <a:ext cx="3127248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C3C3C"/>
                </a:solidFill>
                <a:latin typeface="Calibri"/>
              </a:rPr>
              <a:t>Objetivo (2, 2), con parada cuando distance &lt; 0.05 m.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sz="1100" b="0">
                <a:solidFill>
                  <a:srgbClr val="1F1F1F"/>
                </a:solidFill>
                <a:latin typeface="Consolas"/>
              </a:rPr>
              <a:t>v = Kv·distance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1F1F"/>
                </a:solidFill>
                <a:latin typeface="Consolas"/>
              </a:rPr>
              <a:t>ω = Kh·error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5F"/>
                </a:solidFill>
                <a:latin typeface="Consolas"/>
              </a:rPr>
              <a:t>Kv = 0.5   Kh = 2.0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sz="1300" b="0">
                <a:solidFill>
                  <a:srgbClr val="3C3C3C"/>
                </a:solidFill>
                <a:latin typeface="Calibri"/>
              </a:rPr>
              <a:t>Se eliminó pose_callback: usaba msg.x, msg.y y msg.theta, campos que no existen en Odometry, y no estaba suscrito a ningún tópico. También se corrigió la indentación de main().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1350" b="1">
                <a:solidFill>
                  <a:srgbClr val="1F1F1F"/>
                </a:solidFill>
                <a:latin typeface="Calibri"/>
              </a:rPr>
              <a:t>Rastro casi recto y robot detenido en el objetivo: como v es proporcional a la distancia, arranca rápido y se frena solo.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980176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A7A"/>
                </a:solidFill>
                <a:latin typeface="Calibri"/>
              </a:rPr>
              <a:t>Gazebo (izq.) y RViz: el robot se dibuja detenido al final del rastro (der.).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Preguntas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7A7A"/>
                </a:solidFill>
                <a:latin typeface="Consolas"/>
              </a:rPr>
              <a:t>actividad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0020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A5F"/>
                </a:solidFill>
                <a:latin typeface="Calibri"/>
              </a:rPr>
              <a:t>¿Qué se publica en /cmd_vel?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400" b="0">
                <a:solidFill>
                  <a:srgbClr val="3C3C3C"/>
                </a:solidFill>
                <a:latin typeface="Calibri"/>
              </a:rPr>
              <a:t>Un geometry_msgs/TwistStamped: un comando de velocidad, no de posición.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1F1F1F"/>
                </a:solidFill>
                <a:latin typeface="Consolas"/>
              </a:rPr>
              <a:t>linear.x → velocidad v
angular.z → velocidad de giro ω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300" b="0">
                <a:solidFill>
                  <a:srgbClr val="3C3C3C"/>
                </a:solidFill>
                <a:latin typeface="Calibri"/>
              </a:rPr>
              <a:t>El plugin diferencial lo reparte a las ruedas.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160020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A5F"/>
                </a:solidFill>
                <a:latin typeface="Calibri"/>
              </a:rPr>
              <a:t>¿Qué cierra el lazo desde /odom?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400" b="0">
                <a:solidFill>
                  <a:srgbClr val="3C3C3C"/>
                </a:solidFill>
                <a:latin typeface="Calibri"/>
              </a:rPr>
              <a:t>La pose completa: position.x, position.y y el rumbo extraído del cuaternión.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400" b="0">
                <a:solidFill>
                  <a:srgbClr val="3C3C3C"/>
                </a:solidFill>
                <a:latin typeface="Calibri"/>
              </a:rPr>
              <a:t>Con (x, y, θ) se calcula la distancia al objetivo, el rumbo al objetivo y el error de rumbo.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300" b="0">
                <a:solidFill>
                  <a:srgbClr val="7A7A7A"/>
                </a:solidFill>
                <a:latin typeface="Calibri"/>
              </a:rPr>
              <a:t>Es odométrica, así que en un robot real acumula deriva.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1583" y="160020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A5F"/>
                </a:solidFill>
                <a:latin typeface="Calibri"/>
              </a:rPr>
              <a:t>¿Qué sensores harían falta?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400" b="0">
                <a:solidFill>
                  <a:srgbClr val="3C3C3C"/>
                </a:solidFill>
                <a:latin typeface="Calibri"/>
              </a:rPr>
              <a:t>Encoders — velocidad de rueda que alimenta la odometría.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400" b="0">
                <a:solidFill>
                  <a:srgbClr val="3C3C3C"/>
                </a:solidFill>
                <a:latin typeface="Calibri"/>
              </a:rPr>
              <a:t>IMU — giro real y corrección del deslizamiento.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400" b="0">
                <a:solidFill>
                  <a:srgbClr val="3C3C3C"/>
                </a:solidFill>
                <a:latin typeface="Calibri"/>
              </a:rPr>
              <a:t>LiDAR + SLAM/AMCL, cámara o GPS — porque /odom sola no sitúa al robot en el mundo.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300" b="0">
                <a:solidFill>
                  <a:srgbClr val="7A7A7A"/>
                </a:solidFill>
                <a:latin typeface="Calibri"/>
              </a:rPr>
              <a:t>Añadido: LiDAR o ultrasonidos para seguridad.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