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situando el laboratorio: la guía del capítulo 5 propone cinco partes, de la navegación reactiva hasta Nav2. Esta entrega cubre las cuatro primeras, todas en simulación con Python, numpy y matplotlib, sobre el mismo mapa de 20x20 con un obstáculo rectangular. El hilo conductor es una sola pregunta: cuánta información necesita el robot para llegar, y cuánto paga por tenerla.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la diferencia sR − sL es un gradiente lateral discreto; el signo decide el sentido del giro y la magnitud la rapidez. Lejos del objetivo la diferencia es pequeña, así que el giro es suave, y cerca también se anula: el robot deja de corregir justo cuando debería apuntar. A2: el sobrepaso es el hallazgo. Con T=222 queda a 9.6 celdas, pero un paso más lo lleva a (68.6, 94.2): pasó de largo, no por el objetivo. A3: el problema no es el número de iteraciones; con T=2000 el mínimo es 1.64 en la iteración 1819 pero la distancia final vuelve a 117.95. La ley del libro cambia el signo y añade el término constante 2, que hace v→0 en el objetivo.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 cuidado con la conclusión fácil. En este mapa el camino mide 32, que es exactamente |18−2|+|18−2|, la cota de Manhattan para 4 vecinos. Alcanzar la cota significa que es óptimo, pero eso se debe a la geometría: la escalera monótona rodea el obstáculo sin pasos extra. B2: la prueba que lo demuestra es invertir inicio y objetivo con el mismo código. Queda ciclando entre dos celdas. En (12,12) las diferencias con el objetivo son iguales en x y en y, el desempate manda a la derecha y desde ahí el paso dominante lo devuelve. B3: la diferencia con A es el estado. Bug2 tiene una máquina de estados y memoria del camino.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C1: la jerarquía es útil. BFS no usa costos, solo profundidad; UCS usa g y explora en todas las direcciones como una onda; A* añade h y apunta hacia el objetivo. En el ejemplo de grafos del libro, con el mismo camino óptimo de 1659, UCS explora 19 vértices y A* 12. C2: la heurística no cambia el camino óptimo si es admisible; cambia cuántos nodos cuesta encontrarlo. C3: el dato que sorprende es el 85 por ciento. 305 de 360 celdas libres. La razón es que la distancia euclidiana en un grid de 4 vecinos subestima mucho en las diagonales, así que muchos nodos tienen f parecido y la cola no discrimina. Una heurística Manhattan sería más ajustada y seguiría siendo admisible.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D1: la optimalidad viene de la ecuación de Bellman. Si D(c) = 1 + min D(vecinos), seguir el vecino de menor D baja la distancia en 1 en cada paso, y por inducción D(c) es cota inferior de cualquier camino. En este mapa D(inicio) = 32, que además es la cota de Manhattan. La etiqueta 'no óptimo' de la guía se explica por dos cosas: usa la métrica Manhattan en vez de la euclidiana, y ejecuta 100 barridos fijos sin comprobar convergencia. D2: el costo es lo interesante, porque el número de barridos depende del mapa. D3: en el mapa pequeño los dos empatan, y ahí está la trampa: empatan por la geometría del obstáculo, no porque Bug2 sea bueno.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es el corazón del informe y conviene leerla en dos direcciones. En horizontal: las dos primeras columnas son el precio de entrada — sin mapa global no hay optimalidad garantizada. En vertical: la columna de resultado muestra un empate engañoso en 32 pasos entre B, C y D; el empate es del mapa, no de los métodos. La columna que hay que mirar es la última, la limitación: A no se detiene, B cicla, C necesita heurística, D necesita cómputo previo. Ninguno es mejor en absoluto; cada uno compra algo y paga algo.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solo queda una diapositiva en la memoria del público, que sea esta. 9.57 es el síntoma de una ley mal formulada, no de pocas iteraciones. 32=32 es la trampa del mapa fácil. 85 por ciento es el costo de una heurística floja. 571 es la prueba de que un número fijo de barridos no sirve para todos los mapas. La frase del pie es la tesis del informe: no hay método mejor en absoluto, hay métodos que compran optimalidad con información.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con la progresión: sensores, estado, mapa con búsqueda, mapa completo. Cada salto compra una garantía y paga un costo. Braitenberg es el más simple y el único que no llega; Bug2 añade estado y resuelve obstáculos pero puede ciclar; A* y el distance transform garantizan optimalidad porque tienen el mapa, y por eso pueden precomputar o buscar. Abrir a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1F3A5F"/>
          </a:solidFill>
          <a:ln>
            <a:noFill/>
          </a:ln>
          <a:effectLst/>
        </p:spPr>
        <p:txBody>
          <a:bodyPr rtlCol="0" anchor="ctr"/>
          <a:lstStyle/>
          <a:p>
            <a:pPr algn="ctr"/>
          </a:p>
        </p:txBody>
      </p:sp>
      <p:sp>
        <p:nvSpPr>
          <p:cNvPr id="4" name="Rectangle 3"/>
          <p:cNvSpPr/>
          <p:nvPr/>
        </p:nvSpPr>
        <p:spPr>
          <a:xfrm>
            <a:off x="0" y="201168"/>
            <a:ext cx="12191695" cy="14630"/>
          </a:xfrm>
          <a:prstGeom prst="rect">
            <a:avLst/>
          </a:prstGeom>
          <a:solidFill>
            <a:srgbClr val="ADABA8"/>
          </a:solidFill>
          <a:ln>
            <a:noFill/>
          </a:ln>
          <a:effectLst/>
        </p:spPr>
        <p:txBody>
          <a:bodyPr rtlCol="0" anchor="ctr"/>
          <a:lstStyle/>
          <a:p>
            <a:pPr algn="ctr"/>
          </a:p>
        </p:txBody>
      </p:sp>
      <p:sp>
        <p:nvSpPr>
          <p:cNvPr id="5" name="TextBox 4"/>
          <p:cNvSpPr txBox="1"/>
          <p:nvPr/>
        </p:nvSpPr>
        <p:spPr>
          <a:xfrm>
            <a:off x="822960" y="1371600"/>
            <a:ext cx="960120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60">
                <a:solidFill>
                  <a:srgbClr val="1F3A5F"/>
                </a:solidFill>
                <a:latin typeface="Calibri"/>
              </a:rPr>
              <a:t>INFORME 5  ·  CAPÍTULO 5 — CORKE</a:t>
            </a:r>
          </a:p>
        </p:txBody>
      </p:sp>
      <p:sp>
        <p:nvSpPr>
          <p:cNvPr id="6" name="Rectangle 5"/>
          <p:cNvSpPr/>
          <p:nvPr/>
        </p:nvSpPr>
        <p:spPr>
          <a:xfrm>
            <a:off x="822960" y="1700784"/>
            <a:ext cx="1143000" cy="41148"/>
          </a:xfrm>
          <a:prstGeom prst="rect">
            <a:avLst/>
          </a:prstGeom>
          <a:solidFill>
            <a:srgbClr val="1F3A5F"/>
          </a:solidFill>
          <a:ln>
            <a:noFill/>
          </a:ln>
          <a:effectLst/>
        </p:spPr>
        <p:txBody>
          <a:bodyPr rtlCol="0" anchor="ctr"/>
          <a:lstStyle/>
          <a:p>
            <a:pPr algn="ctr"/>
          </a:p>
        </p:txBody>
      </p:sp>
      <p:sp>
        <p:nvSpPr>
          <p:cNvPr id="7" name="TextBox 6"/>
          <p:cNvSpPr txBox="1"/>
          <p:nvPr/>
        </p:nvSpPr>
        <p:spPr>
          <a:xfrm>
            <a:off x="822960" y="1975104"/>
            <a:ext cx="10424160" cy="1737360"/>
          </a:xfrm>
          <a:prstGeom prst="rect">
            <a:avLst/>
          </a:prstGeom>
          <a:noFill/>
        </p:spPr>
        <p:txBody>
          <a:bodyPr wrap="square" anchor="t" lIns="0" rIns="0" tIns="0" bIns="0">
            <a:noAutofit/>
          </a:bodyPr>
          <a:lstStyle/>
          <a:p>
            <a:pPr algn="l">
              <a:lnSpc>
                <a:spcPct val="102000"/>
              </a:lnSpc>
              <a:spcBef>
                <a:spcPts val="0"/>
              </a:spcBef>
              <a:spcAft>
                <a:spcPts val="0"/>
              </a:spcAft>
            </a:pPr>
            <a:r>
              <a:rPr sz="3800" b="1" i="0">
                <a:solidFill>
                  <a:srgbClr val="1F3A5F"/>
                </a:solidFill>
                <a:latin typeface="Calibri"/>
              </a:rPr>
              <a:t>Navegación de robots móviles:</a:t>
            </a:r>
          </a:p>
          <a:p>
            <a:pPr algn="l">
              <a:lnSpc>
                <a:spcPct val="102000"/>
              </a:lnSpc>
              <a:spcBef>
                <a:spcPts val="0"/>
              </a:spcBef>
              <a:spcAft>
                <a:spcPts val="0"/>
              </a:spcAft>
            </a:pPr>
            <a:r>
              <a:rPr sz="3800" b="1" i="0">
                <a:solidFill>
                  <a:srgbClr val="1F3A5F"/>
                </a:solidFill>
                <a:latin typeface="Calibri"/>
              </a:rPr>
              <a:t>de lo reactivo a lo planificado</a:t>
            </a:r>
          </a:p>
        </p:txBody>
      </p:sp>
      <p:sp>
        <p:nvSpPr>
          <p:cNvPr id="8" name="TextBox 7"/>
          <p:cNvSpPr txBox="1"/>
          <p:nvPr/>
        </p:nvSpPr>
        <p:spPr>
          <a:xfrm>
            <a:off x="822960" y="3675887"/>
            <a:ext cx="9509760" cy="777240"/>
          </a:xfrm>
          <a:prstGeom prst="rect">
            <a:avLst/>
          </a:prstGeom>
          <a:noFill/>
        </p:spPr>
        <p:txBody>
          <a:bodyPr wrap="square" anchor="t" lIns="0" rIns="0" tIns="0" bIns="0">
            <a:noAutofit/>
          </a:bodyPr>
          <a:lstStyle/>
          <a:p>
            <a:pPr algn="l">
              <a:lnSpc>
                <a:spcPct val="120000"/>
              </a:lnSpc>
              <a:spcBef>
                <a:spcPts val="0"/>
              </a:spcBef>
              <a:spcAft>
                <a:spcPts val="0"/>
              </a:spcAft>
            </a:pPr>
            <a:r>
              <a:rPr sz="1500" b="0" i="0">
                <a:solidFill>
                  <a:srgbClr val="1F1F1F"/>
                </a:solidFill>
                <a:latin typeface="Calibri"/>
              </a:rPr>
              <a:t>Partes A–D: vehículo Braitenberg, Bug2, planificación con A* y distance transform sobre un mapa de ocupación 20 × 20.</a:t>
            </a:r>
          </a:p>
        </p:txBody>
      </p:sp>
      <p:sp>
        <p:nvSpPr>
          <p:cNvPr id="9" name="Rectangle 8"/>
          <p:cNvSpPr/>
          <p:nvPr/>
        </p:nvSpPr>
        <p:spPr>
          <a:xfrm>
            <a:off x="822960" y="4626864"/>
            <a:ext cx="2834640" cy="14630"/>
          </a:xfrm>
          <a:prstGeom prst="rect">
            <a:avLst/>
          </a:prstGeom>
          <a:solidFill>
            <a:srgbClr val="ADABA8"/>
          </a:solidFill>
          <a:ln>
            <a:noFill/>
          </a:ln>
          <a:effectLst/>
        </p:spPr>
        <p:txBody>
          <a:bodyPr rtlCol="0" anchor="ctr"/>
          <a:lstStyle/>
          <a:p>
            <a:pPr algn="ctr"/>
          </a:p>
        </p:txBody>
      </p:sp>
      <p:sp>
        <p:nvSpPr>
          <p:cNvPr id="10" name="TextBox 9"/>
          <p:cNvSpPr txBox="1"/>
          <p:nvPr/>
        </p:nvSpPr>
        <p:spPr>
          <a:xfrm>
            <a:off x="822960" y="4773168"/>
            <a:ext cx="5669280" cy="64008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F3A5F"/>
                </a:solidFill>
                <a:latin typeface="Calibri"/>
              </a:rPr>
              <a:t>Juan David Villota</a:t>
            </a:r>
          </a:p>
          <a:p>
            <a:pPr algn="l">
              <a:lnSpc>
                <a:spcPct val="100000"/>
              </a:lnSpc>
              <a:spcBef>
                <a:spcPts val="0"/>
              </a:spcBef>
              <a:spcAft>
                <a:spcPts val="0"/>
              </a:spcAft>
            </a:pPr>
            <a:r>
              <a:rPr sz="1400" b="1" i="0">
                <a:solidFill>
                  <a:srgbClr val="1F3A5F"/>
                </a:solidFill>
                <a:latin typeface="Calibri"/>
              </a:rPr>
              <a:t>Jhon Hesneydert Londoño</a:t>
            </a:r>
          </a:p>
        </p:txBody>
      </p:sp>
      <p:sp>
        <p:nvSpPr>
          <p:cNvPr id="11" name="TextBox 10"/>
          <p:cNvSpPr txBox="1"/>
          <p:nvPr/>
        </p:nvSpPr>
        <p:spPr>
          <a:xfrm>
            <a:off x="822960" y="5943600"/>
            <a:ext cx="10607040" cy="274320"/>
          </a:xfrm>
          <a:prstGeom prst="rect">
            <a:avLst/>
          </a:prstGeom>
          <a:noFill/>
        </p:spPr>
        <p:txBody>
          <a:bodyPr wrap="square" anchor="t" lIns="0" rIns="0" tIns="0" bIns="0">
            <a:noAutofit/>
          </a:bodyPr>
          <a:lstStyle/>
          <a:p>
            <a:pPr algn="l">
              <a:lnSpc>
                <a:spcPct val="100000"/>
              </a:lnSpc>
              <a:spcBef>
                <a:spcPts val="0"/>
              </a:spcBef>
              <a:spcAft>
                <a:spcPts val="0"/>
              </a:spcAft>
            </a:pPr>
            <a:r>
              <a:rPr sz="1050" b="0" i="0">
                <a:solidFill>
                  <a:srgbClr val="7A7A7A"/>
                </a:solidFill>
                <a:latin typeface="Calibri"/>
              </a:rPr>
              <a:t>Robótica — Universidad Nacional de Colombia, sede Manizales  ·  Semestre VIII  ·  2026-2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1F3A5F"/>
          </a:solidFill>
          <a:ln>
            <a:noFill/>
          </a:ln>
          <a:effectLst/>
        </p:spPr>
        <p:txBody>
          <a:bodyPr rtlCol="0" anchor="ctr"/>
          <a:lstStyle/>
          <a:p>
            <a:pPr algn="ctr"/>
          </a:p>
        </p:txBody>
      </p:sp>
      <p:sp>
        <p:nvSpPr>
          <p:cNvPr id="4" name="Rectangle 3"/>
          <p:cNvSpPr/>
          <p:nvPr/>
        </p:nvSpPr>
        <p:spPr>
          <a:xfrm>
            <a:off x="0" y="201168"/>
            <a:ext cx="12191695" cy="14630"/>
          </a:xfrm>
          <a:prstGeom prst="rect">
            <a:avLst/>
          </a:prstGeom>
          <a:solidFill>
            <a:srgbClr val="ADABA8"/>
          </a:solidFill>
          <a:ln>
            <a:noFill/>
          </a:ln>
          <a:effectLst/>
        </p:spPr>
        <p:txBody>
          <a:bodyPr rtlCol="0" anchor="ctr"/>
          <a:lstStyle/>
          <a:p>
            <a:pPr algn="ctr"/>
          </a:p>
        </p:txBody>
      </p:sp>
      <p:sp>
        <p:nvSpPr>
          <p:cNvPr id="5" name="TextBox 4"/>
          <p:cNvSpPr txBox="1"/>
          <p:nvPr/>
        </p:nvSpPr>
        <p:spPr>
          <a:xfrm>
            <a:off x="548640" y="475488"/>
            <a:ext cx="11109960" cy="566928"/>
          </a:xfrm>
          <a:prstGeom prst="rect">
            <a:avLst/>
          </a:prstGeom>
          <a:noFill/>
        </p:spPr>
        <p:txBody>
          <a:bodyPr wrap="square" anchor="ctr" lIns="0" rIns="0" tIns="0" bIns="0">
            <a:noAutofit/>
          </a:bodyPr>
          <a:lstStyle/>
          <a:p>
            <a:pPr algn="l">
              <a:lnSpc>
                <a:spcPct val="100000"/>
              </a:lnSpc>
              <a:spcBef>
                <a:spcPts val="0"/>
              </a:spcBef>
              <a:spcAft>
                <a:spcPts val="0"/>
              </a:spcAft>
            </a:pPr>
            <a:r>
              <a:rPr sz="2500" b="1" i="0">
                <a:solidFill>
                  <a:srgbClr val="1F3A5F"/>
                </a:solidFill>
                <a:latin typeface="Calibri"/>
              </a:rPr>
              <a:t>A · Braitenberg: con la ley de la guía el robot nunca llega</a:t>
            </a:r>
          </a:p>
        </p:txBody>
      </p:sp>
      <p:sp>
        <p:nvSpPr>
          <p:cNvPr id="6" name="TextBox 5"/>
          <p:cNvSpPr txBox="1"/>
          <p:nvPr/>
        </p:nvSpPr>
        <p:spPr>
          <a:xfrm>
            <a:off x="548640" y="1097280"/>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1100" b="0" i="0">
                <a:solidFill>
                  <a:srgbClr val="7A7A7A"/>
                </a:solidFill>
                <a:latin typeface="Calibri"/>
              </a:rPr>
              <a:t>v = −Kv·(sL + sR)   ·   ω = Ks·(sR − sL)   ·   Ks = 17, Kv = 14   ·   dt = 0.1   ·   T = 222</a:t>
            </a:r>
          </a:p>
        </p:txBody>
      </p:sp>
      <p:sp>
        <p:nvSpPr>
          <p:cNvPr id="7" name="Rectangle 6"/>
          <p:cNvSpPr/>
          <p:nvPr/>
        </p:nvSpPr>
        <p:spPr>
          <a:xfrm>
            <a:off x="502920" y="1481328"/>
            <a:ext cx="4434840" cy="3913632"/>
          </a:xfrm>
          <a:prstGeom prst="rect">
            <a:avLst/>
          </a:prstGeom>
          <a:solidFill>
            <a:srgbClr val="FFFFFF"/>
          </a:solidFill>
          <a:ln w="9525">
            <a:solidFill>
              <a:srgbClr val="D8D3C8"/>
            </a:solidFill>
          </a:ln>
          <a:effectLst/>
        </p:spPr>
        <p:txBody>
          <a:bodyPr rtlCol="0" anchor="ctr"/>
          <a:lstStyle/>
          <a:p>
            <a:pPr algn="ctr"/>
          </a:p>
        </p:txBody>
      </p:sp>
      <p:pic>
        <p:nvPicPr>
          <p:cNvPr id="8" name="Picture 7" descr="A1_braitenberg_trayectoria.png"/>
          <p:cNvPicPr>
            <a:picLocks noChangeAspect="1"/>
          </p:cNvPicPr>
          <p:nvPr/>
        </p:nvPicPr>
        <p:blipFill>
          <a:blip r:embed="rId2"/>
          <a:stretch>
            <a:fillRect/>
          </a:stretch>
        </p:blipFill>
        <p:spPr>
          <a:xfrm>
            <a:off x="715847" y="1609344"/>
            <a:ext cx="4008985" cy="3657600"/>
          </a:xfrm>
          <a:prstGeom prst="rect">
            <a:avLst/>
          </a:prstGeom>
        </p:spPr>
      </p:pic>
      <p:sp>
        <p:nvSpPr>
          <p:cNvPr id="9" name="TextBox 8"/>
          <p:cNvSpPr txBox="1"/>
          <p:nvPr/>
        </p:nvSpPr>
        <p:spPr>
          <a:xfrm>
            <a:off x="502920" y="5477256"/>
            <a:ext cx="4434840" cy="365760"/>
          </a:xfrm>
          <a:prstGeom prst="rect">
            <a:avLst/>
          </a:prstGeom>
          <a:noFill/>
        </p:spPr>
        <p:txBody>
          <a:bodyPr wrap="square" anchor="t" lIns="0" rIns="0" tIns="0" bIns="0">
            <a:noAutofit/>
          </a:bodyPr>
          <a:lstStyle/>
          <a:p>
            <a:pPr algn="ctr">
              <a:lnSpc>
                <a:spcPct val="115000"/>
              </a:lnSpc>
              <a:spcBef>
                <a:spcPts val="0"/>
              </a:spcBef>
              <a:spcAft>
                <a:spcPts val="0"/>
              </a:spcAft>
            </a:pPr>
            <a:r>
              <a:rPr sz="900" b="0" i="0">
                <a:solidFill>
                  <a:srgbClr val="7A7A7A"/>
                </a:solidFill>
                <a:latin typeface="Calibri"/>
              </a:rPr>
              <a:t>Campo escalar s(x, y) y trayectoria. El robot parte de (10, 10) y describe un arco; termina en (51.4, 85.8), a 9.6 celdas del objetivo.</a:t>
            </a:r>
          </a:p>
        </p:txBody>
      </p:sp>
      <p:sp>
        <p:nvSpPr>
          <p:cNvPr id="10" name="TextBox 9"/>
          <p:cNvSpPr txBox="1"/>
          <p:nvPr/>
        </p:nvSpPr>
        <p:spPr>
          <a:xfrm>
            <a:off x="5230368" y="1481328"/>
            <a:ext cx="6446520" cy="128016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A1 · ¿Cómo influye la diferencia entre sensores en la dirección?</a:t>
            </a:r>
          </a:p>
          <a:p>
            <a:pPr algn="l">
              <a:lnSpc>
                <a:spcPct val="104000"/>
              </a:lnSpc>
              <a:spcBef>
                <a:spcPts val="0"/>
              </a:spcBef>
              <a:spcAft>
                <a:spcPts val="0"/>
              </a:spcAft>
            </a:pPr>
            <a:r>
              <a:rPr sz="1350" b="0" i="0">
                <a:solidFill>
                  <a:srgbClr val="1F1F1F"/>
                </a:solidFill>
                <a:latin typeface="Calibri"/>
              </a:rPr>
              <a:t>ω ∝ sR − sL es la componente lateral del gradiente: el robot gira hacia el sensor que lee más campo. La diferencia es apreciable lejos y se anula cerca, así que corrige el rumbo poco y describe un arco en lugar de apuntar al objetivo.</a:t>
            </a:r>
          </a:p>
        </p:txBody>
      </p:sp>
      <p:sp>
        <p:nvSpPr>
          <p:cNvPr id="11" name="TextBox 10"/>
          <p:cNvSpPr txBox="1"/>
          <p:nvPr/>
        </p:nvSpPr>
        <p:spPr>
          <a:xfrm>
            <a:off x="5230368" y="2761488"/>
            <a:ext cx="6446520" cy="118872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A2 · ¿Qué ocurre cuando el robot se aproxima al objetivo?</a:t>
            </a:r>
          </a:p>
          <a:p>
            <a:pPr algn="l">
              <a:lnSpc>
                <a:spcPct val="104000"/>
              </a:lnSpc>
              <a:spcBef>
                <a:spcPts val="0"/>
              </a:spcBef>
              <a:spcAft>
                <a:spcPts val="0"/>
              </a:spcAft>
            </a:pPr>
            <a:r>
              <a:rPr sz="1350" b="0" i="0">
                <a:solidFill>
                  <a:srgbClr val="1F1F1F"/>
                </a:solidFill>
                <a:latin typeface="Calibri"/>
              </a:rPr>
              <a:t>Dos efectos opuestos: |v| crece como 1/r² y ω → 0. Sin saturación ni frenado el robot sobrepasa el objetivo — un solo paso lo desplaza 19.2 celdas porque |v| ≈ 192.</a:t>
            </a:r>
          </a:p>
        </p:txBody>
      </p:sp>
      <p:sp>
        <p:nvSpPr>
          <p:cNvPr id="12" name="TextBox 11"/>
          <p:cNvSpPr txBox="1"/>
          <p:nvPr/>
        </p:nvSpPr>
        <p:spPr>
          <a:xfrm>
            <a:off x="5230368" y="3950208"/>
            <a:ext cx="6446520" cy="173736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A3 · ¿Qué limitaciones tiene? ¿Y si aumentan las iteraciones?</a:t>
            </a:r>
          </a:p>
          <a:p>
            <a:pPr algn="l">
              <a:lnSpc>
                <a:spcPct val="104000"/>
              </a:lnSpc>
              <a:spcBef>
                <a:spcPts val="0"/>
              </a:spcBef>
              <a:spcAft>
                <a:spcPts val="0"/>
              </a:spcAft>
            </a:pPr>
            <a:r>
              <a:rPr sz="1350" b="0" i="0">
                <a:solidFill>
                  <a:srgbClr val="1F1F1F"/>
                </a:solidFill>
                <a:latin typeface="Calibri"/>
              </a:rPr>
              <a:t>Sin condición de parada, sin saturación, sin evasión de obstáculos y sin memoria. Aumentar T no converge: la trayectoria es una órbita que se aleja. La ley del libro, v = 2 − sR − sL, sí frena porque v → 0 justo en el objetivo.</a:t>
            </a:r>
          </a:p>
        </p:txBody>
      </p:sp>
      <p:sp>
        <p:nvSpPr>
          <p:cNvPr id="13" name="Rectangle 12"/>
          <p:cNvSpPr/>
          <p:nvPr/>
        </p:nvSpPr>
        <p:spPr>
          <a:xfrm>
            <a:off x="548640" y="5961888"/>
            <a:ext cx="11109960" cy="402336"/>
          </a:xfrm>
          <a:prstGeom prst="rect">
            <a:avLst/>
          </a:prstGeom>
          <a:solidFill>
            <a:srgbClr val="FFFFFF"/>
          </a:solidFill>
          <a:ln w="9525">
            <a:solidFill>
              <a:srgbClr val="D8D3C8"/>
            </a:solidFill>
          </a:ln>
          <a:effectLst/>
        </p:spPr>
        <p:txBody>
          <a:bodyPr rtlCol="0" anchor="ctr"/>
          <a:lstStyle/>
          <a:p>
            <a:pPr algn="ctr"/>
          </a:p>
        </p:txBody>
      </p:sp>
      <p:sp>
        <p:nvSpPr>
          <p:cNvPr id="14" name="Rectangle 13"/>
          <p:cNvSpPr/>
          <p:nvPr/>
        </p:nvSpPr>
        <p:spPr>
          <a:xfrm>
            <a:off x="548640" y="5961888"/>
            <a:ext cx="68580" cy="402336"/>
          </a:xfrm>
          <a:prstGeom prst="rect">
            <a:avLst/>
          </a:prstGeom>
          <a:solidFill>
            <a:srgbClr val="1F3A5F"/>
          </a:solidFill>
          <a:ln>
            <a:noFill/>
          </a:ln>
          <a:effectLst/>
        </p:spPr>
        <p:txBody>
          <a:bodyPr rtlCol="0" anchor="ctr"/>
          <a:lstStyle/>
          <a:p>
            <a:pPr algn="ctr"/>
          </a:p>
        </p:txBody>
      </p:sp>
      <p:sp>
        <p:nvSpPr>
          <p:cNvPr id="15" name="TextBox 14"/>
          <p:cNvSpPr txBox="1"/>
          <p:nvPr/>
        </p:nvSpPr>
        <p:spPr>
          <a:xfrm>
            <a:off x="749808" y="5961888"/>
            <a:ext cx="10789920" cy="402336"/>
          </a:xfrm>
          <a:prstGeom prst="rect">
            <a:avLst/>
          </a:prstGeom>
          <a:noFill/>
        </p:spPr>
        <p:txBody>
          <a:bodyPr wrap="square" anchor="ctr" lIns="0" rIns="0" tIns="0" bIns="0">
            <a:noAutofit/>
          </a:bodyPr>
          <a:lstStyle/>
          <a:p>
            <a:r>
              <a:rPr sz="1050" b="1">
                <a:solidFill>
                  <a:srgbClr val="1F3A5F"/>
                </a:solidFill>
                <a:latin typeface="Calibri"/>
              </a:rPr>
              <a:t>d_mín 9.57 celdas</a:t>
            </a:r>
            <a:r>
              <a:rPr sz="1050">
                <a:solidFill>
                  <a:srgbClr val="ADABA8"/>
                </a:solidFill>
                <a:latin typeface="Calibri"/>
              </a:rPr>
              <a:t>   ·   </a:t>
            </a:r>
            <a:r>
              <a:rPr sz="1050" b="0">
                <a:solidFill>
                  <a:srgbClr val="1F1F1F"/>
                </a:solidFill>
                <a:latin typeface="Calibri"/>
              </a:rPr>
              <a:t>d_final 131.62 (T = 500)</a:t>
            </a:r>
            <a:r>
              <a:rPr sz="1050">
                <a:solidFill>
                  <a:srgbClr val="ADABA8"/>
                </a:solidFill>
                <a:latin typeface="Calibri"/>
              </a:rPr>
              <a:t>   ·   </a:t>
            </a:r>
            <a:r>
              <a:rPr sz="1050" b="0">
                <a:solidFill>
                  <a:srgbClr val="1F1F1F"/>
                </a:solidFill>
                <a:latin typeface="Calibri"/>
              </a:rPr>
              <a:t>165.92 (T = 1000)</a:t>
            </a:r>
            <a:r>
              <a:rPr sz="1050">
                <a:solidFill>
                  <a:srgbClr val="ADABA8"/>
                </a:solidFill>
                <a:latin typeface="Calibri"/>
              </a:rPr>
              <a:t>   ·   </a:t>
            </a:r>
            <a:r>
              <a:rPr sz="1050" b="0">
                <a:solidFill>
                  <a:srgbClr val="1F1F1F"/>
                </a:solidFill>
                <a:latin typeface="Calibri"/>
              </a:rPr>
              <a:t>117.95 (T = 2000)</a:t>
            </a:r>
            <a:r>
              <a:rPr sz="1050">
                <a:solidFill>
                  <a:srgbClr val="ADABA8"/>
                </a:solidFill>
                <a:latin typeface="Calibri"/>
              </a:rPr>
              <a:t>   ·   </a:t>
            </a:r>
            <a:r>
              <a:rPr sz="1050" b="1">
                <a:solidFill>
                  <a:srgbClr val="1F3A5F"/>
                </a:solidFill>
                <a:latin typeface="Calibri"/>
              </a:rPr>
              <a:t>no llega al objetivo</a:t>
            </a:r>
          </a:p>
        </p:txBody>
      </p:sp>
      <p:sp>
        <p:nvSpPr>
          <p:cNvPr id="16" name="TextBox 15"/>
          <p:cNvSpPr txBox="1"/>
          <p:nvPr/>
        </p:nvSpPr>
        <p:spPr>
          <a:xfrm>
            <a:off x="548640" y="6419088"/>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7A7A7A"/>
                </a:solidFill>
                <a:latin typeface="Calibri"/>
              </a:rPr>
              <a:t>Figura A1 · Ley de control de la guía, sin término de frenado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1F3A5F"/>
          </a:solidFill>
          <a:ln>
            <a:noFill/>
          </a:ln>
          <a:effectLst/>
        </p:spPr>
        <p:txBody>
          <a:bodyPr rtlCol="0" anchor="ctr"/>
          <a:lstStyle/>
          <a:p>
            <a:pPr algn="ctr"/>
          </a:p>
        </p:txBody>
      </p:sp>
      <p:sp>
        <p:nvSpPr>
          <p:cNvPr id="4" name="Rectangle 3"/>
          <p:cNvSpPr/>
          <p:nvPr/>
        </p:nvSpPr>
        <p:spPr>
          <a:xfrm>
            <a:off x="0" y="201168"/>
            <a:ext cx="12191695" cy="14630"/>
          </a:xfrm>
          <a:prstGeom prst="rect">
            <a:avLst/>
          </a:prstGeom>
          <a:solidFill>
            <a:srgbClr val="ADABA8"/>
          </a:solidFill>
          <a:ln>
            <a:noFill/>
          </a:ln>
          <a:effectLst/>
        </p:spPr>
        <p:txBody>
          <a:bodyPr rtlCol="0" anchor="ctr"/>
          <a:lstStyle/>
          <a:p>
            <a:pPr algn="ctr"/>
          </a:p>
        </p:txBody>
      </p:sp>
      <p:sp>
        <p:nvSpPr>
          <p:cNvPr id="5" name="TextBox 4"/>
          <p:cNvSpPr txBox="1"/>
          <p:nvPr/>
        </p:nvSpPr>
        <p:spPr>
          <a:xfrm>
            <a:off x="548640" y="475488"/>
            <a:ext cx="11109960" cy="566928"/>
          </a:xfrm>
          <a:prstGeom prst="rect">
            <a:avLst/>
          </a:prstGeom>
          <a:noFill/>
        </p:spPr>
        <p:txBody>
          <a:bodyPr wrap="square" anchor="ctr" lIns="0" rIns="0" tIns="0" bIns="0">
            <a:noAutofit/>
          </a:bodyPr>
          <a:lstStyle/>
          <a:p>
            <a:pPr algn="l">
              <a:lnSpc>
                <a:spcPct val="100000"/>
              </a:lnSpc>
              <a:spcBef>
                <a:spcPts val="0"/>
              </a:spcBef>
              <a:spcAft>
                <a:spcPts val="0"/>
              </a:spcAft>
            </a:pPr>
            <a:r>
              <a:rPr sz="2500" b="1" i="0">
                <a:solidFill>
                  <a:srgbClr val="1F3A5F"/>
                </a:solidFill>
                <a:latin typeface="Calibri"/>
              </a:rPr>
              <a:t>B · Bug2: llega en 32 pasos, pero la optimalidad es una coincidencia</a:t>
            </a:r>
          </a:p>
        </p:txBody>
      </p:sp>
      <p:sp>
        <p:nvSpPr>
          <p:cNvPr id="6" name="TextBox 5"/>
          <p:cNvSpPr txBox="1"/>
          <p:nvPr/>
        </p:nvSpPr>
        <p:spPr>
          <a:xfrm>
            <a:off x="548640" y="1097280"/>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1100" b="0" i="0">
                <a:solidFill>
                  <a:srgbClr val="7A7A7A"/>
                </a:solidFill>
                <a:latin typeface="Calibri"/>
              </a:rPr>
              <a:t>Escalera de 4 vecinos   ·   (2, 2) → (18, 18)   ·   versión simplificada: sin m-line ni condición de salida</a:t>
            </a:r>
          </a:p>
        </p:txBody>
      </p:sp>
      <p:sp>
        <p:nvSpPr>
          <p:cNvPr id="7" name="Rectangle 6"/>
          <p:cNvSpPr/>
          <p:nvPr/>
        </p:nvSpPr>
        <p:spPr>
          <a:xfrm>
            <a:off x="502920" y="1481328"/>
            <a:ext cx="4434840" cy="3913632"/>
          </a:xfrm>
          <a:prstGeom prst="rect">
            <a:avLst/>
          </a:prstGeom>
          <a:solidFill>
            <a:srgbClr val="FFFFFF"/>
          </a:solidFill>
          <a:ln w="9525">
            <a:solidFill>
              <a:srgbClr val="D8D3C8"/>
            </a:solidFill>
          </a:ln>
          <a:effectLst/>
        </p:spPr>
        <p:txBody>
          <a:bodyPr rtlCol="0" anchor="ctr"/>
          <a:lstStyle/>
          <a:p>
            <a:pPr algn="ctr"/>
          </a:p>
        </p:txBody>
      </p:sp>
      <p:pic>
        <p:nvPicPr>
          <p:cNvPr id="8" name="Picture 7" descr="B1_bug2.png"/>
          <p:cNvPicPr>
            <a:picLocks noChangeAspect="1"/>
          </p:cNvPicPr>
          <p:nvPr/>
        </p:nvPicPr>
        <p:blipFill>
          <a:blip r:embed="rId2"/>
          <a:stretch>
            <a:fillRect/>
          </a:stretch>
        </p:blipFill>
        <p:spPr>
          <a:xfrm>
            <a:off x="948480" y="1609344"/>
            <a:ext cx="3543718" cy="3657600"/>
          </a:xfrm>
          <a:prstGeom prst="rect">
            <a:avLst/>
          </a:prstGeom>
        </p:spPr>
      </p:pic>
      <p:sp>
        <p:nvSpPr>
          <p:cNvPr id="9" name="TextBox 8"/>
          <p:cNvSpPr txBox="1"/>
          <p:nvPr/>
        </p:nvSpPr>
        <p:spPr>
          <a:xfrm>
            <a:off x="502920" y="5477256"/>
            <a:ext cx="4434840" cy="365760"/>
          </a:xfrm>
          <a:prstGeom prst="rect">
            <a:avLst/>
          </a:prstGeom>
          <a:noFill/>
        </p:spPr>
        <p:txBody>
          <a:bodyPr wrap="square" anchor="t" lIns="0" rIns="0" tIns="0" bIns="0">
            <a:noAutofit/>
          </a:bodyPr>
          <a:lstStyle/>
          <a:p>
            <a:pPr algn="ctr">
              <a:lnSpc>
                <a:spcPct val="115000"/>
              </a:lnSpc>
              <a:spcBef>
                <a:spcPts val="0"/>
              </a:spcBef>
              <a:spcAft>
                <a:spcPts val="0"/>
              </a:spcAft>
            </a:pPr>
            <a:r>
              <a:rPr sz="900" b="0" i="0">
                <a:solidFill>
                  <a:srgbClr val="7A7A7A"/>
                </a:solidFill>
                <a:latin typeface="Calibri"/>
              </a:rPr>
              <a:t>Camino del Bug2 simplificado. La línea punteada es la m-line, que el código de la guía no usa: se dibuja solo como referencia.</a:t>
            </a:r>
          </a:p>
        </p:txBody>
      </p:sp>
      <p:sp>
        <p:nvSpPr>
          <p:cNvPr id="10" name="TextBox 9"/>
          <p:cNvSpPr txBox="1"/>
          <p:nvPr/>
        </p:nvSpPr>
        <p:spPr>
          <a:xfrm>
            <a:off x="5230368" y="1481328"/>
            <a:ext cx="6446520" cy="128016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B1 · ¿El camino obtenido es óptimo? Justifique.</a:t>
            </a:r>
          </a:p>
          <a:p>
            <a:pPr algn="l">
              <a:lnSpc>
                <a:spcPct val="104000"/>
              </a:lnSpc>
              <a:spcBef>
                <a:spcPts val="0"/>
              </a:spcBef>
              <a:spcAft>
                <a:spcPts val="0"/>
              </a:spcAft>
            </a:pPr>
            <a:r>
              <a:rPr sz="1350" b="0" i="0">
                <a:solidFill>
                  <a:srgbClr val="1F1F1F"/>
                </a:solidFill>
                <a:latin typeface="Calibri"/>
              </a:rPr>
              <a:t>En este mapa sí: 32 pasos igualan la cota inferior de Manhattan |Δx| + |Δy| = 32, y el obstáculo no obliga a un rodeo extra. Pero el algoritmo no garantiza optimalidad: decide localmente y no tiene mapa global.</a:t>
            </a:r>
          </a:p>
        </p:txBody>
      </p:sp>
      <p:sp>
        <p:nvSpPr>
          <p:cNvPr id="11" name="TextBox 10"/>
          <p:cNvSpPr txBox="1"/>
          <p:nvPr/>
        </p:nvSpPr>
        <p:spPr>
          <a:xfrm>
            <a:off x="5230368" y="2761488"/>
            <a:ext cx="6446520" cy="118872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B2 · ¿Qué sucede en entornos complejos?</a:t>
            </a:r>
          </a:p>
          <a:p>
            <a:pPr algn="l">
              <a:lnSpc>
                <a:spcPct val="104000"/>
              </a:lnSpc>
              <a:spcBef>
                <a:spcPts val="0"/>
              </a:spcBef>
              <a:spcAft>
                <a:spcPts val="0"/>
              </a:spcAft>
            </a:pPr>
            <a:r>
              <a:rPr sz="1350" b="0" i="0">
                <a:solidFill>
                  <a:srgbClr val="1F1F1F"/>
                </a:solidFill>
                <a:latin typeface="Calibri"/>
              </a:rPr>
              <a:t>La regla de desempate es fija y no verifica si avanza. Con inicio y objetivo invertidos recorre 13 celdas distintas y cicla entre (12, 12) y (13, 12) hasta agotar las 500 iteraciones.</a:t>
            </a:r>
          </a:p>
        </p:txBody>
      </p:sp>
      <p:sp>
        <p:nvSpPr>
          <p:cNvPr id="12" name="TextBox 11"/>
          <p:cNvSpPr txBox="1"/>
          <p:nvPr/>
        </p:nvSpPr>
        <p:spPr>
          <a:xfrm>
            <a:off x="5230368" y="3950208"/>
            <a:ext cx="6446520" cy="173736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B3 · Compare con el enfoque reactivo de la parte A.</a:t>
            </a:r>
          </a:p>
          <a:p>
            <a:pPr algn="l">
              <a:lnSpc>
                <a:spcPct val="104000"/>
              </a:lnSpc>
              <a:spcBef>
                <a:spcPts val="0"/>
              </a:spcBef>
              <a:spcAft>
                <a:spcPts val="0"/>
              </a:spcAft>
            </a:pPr>
            <a:r>
              <a:rPr sz="1350" b="0" i="0">
                <a:solidFill>
                  <a:srgbClr val="1F1F1F"/>
                </a:solidFill>
                <a:latin typeface="Calibri"/>
              </a:rPr>
              <a:t>Añade estado —avanzar o seguir el borde— y detecta obstáculos, así que resuelve lo que el Braitenberg no puede. Sigue siendo reactivo: sin la m-line del Bug2 completo puede ciclar, y aun completo es subóptimo (1307 pasos en la casa del libro frente a 338 del distance transform).</a:t>
            </a:r>
          </a:p>
        </p:txBody>
      </p:sp>
      <p:sp>
        <p:nvSpPr>
          <p:cNvPr id="13" name="Rectangle 12"/>
          <p:cNvSpPr/>
          <p:nvPr/>
        </p:nvSpPr>
        <p:spPr>
          <a:xfrm>
            <a:off x="548640" y="5961888"/>
            <a:ext cx="11109960" cy="402336"/>
          </a:xfrm>
          <a:prstGeom prst="rect">
            <a:avLst/>
          </a:prstGeom>
          <a:solidFill>
            <a:srgbClr val="FFFFFF"/>
          </a:solidFill>
          <a:ln w="9525">
            <a:solidFill>
              <a:srgbClr val="D8D3C8"/>
            </a:solidFill>
          </a:ln>
          <a:effectLst/>
        </p:spPr>
        <p:txBody>
          <a:bodyPr rtlCol="0" anchor="ctr"/>
          <a:lstStyle/>
          <a:p>
            <a:pPr algn="ctr"/>
          </a:p>
        </p:txBody>
      </p:sp>
      <p:sp>
        <p:nvSpPr>
          <p:cNvPr id="14" name="Rectangle 13"/>
          <p:cNvSpPr/>
          <p:nvPr/>
        </p:nvSpPr>
        <p:spPr>
          <a:xfrm>
            <a:off x="548640" y="5961888"/>
            <a:ext cx="68580" cy="402336"/>
          </a:xfrm>
          <a:prstGeom prst="rect">
            <a:avLst/>
          </a:prstGeom>
          <a:solidFill>
            <a:srgbClr val="1F3A5F"/>
          </a:solidFill>
          <a:ln>
            <a:noFill/>
          </a:ln>
          <a:effectLst/>
        </p:spPr>
        <p:txBody>
          <a:bodyPr rtlCol="0" anchor="ctr"/>
          <a:lstStyle/>
          <a:p>
            <a:pPr algn="ctr"/>
          </a:p>
        </p:txBody>
      </p:sp>
      <p:sp>
        <p:nvSpPr>
          <p:cNvPr id="15" name="TextBox 14"/>
          <p:cNvSpPr txBox="1"/>
          <p:nvPr/>
        </p:nvSpPr>
        <p:spPr>
          <a:xfrm>
            <a:off x="749808" y="5961888"/>
            <a:ext cx="10789920" cy="402336"/>
          </a:xfrm>
          <a:prstGeom prst="rect">
            <a:avLst/>
          </a:prstGeom>
          <a:noFill/>
        </p:spPr>
        <p:txBody>
          <a:bodyPr wrap="square" anchor="ctr" lIns="0" rIns="0" tIns="0" bIns="0">
            <a:noAutofit/>
          </a:bodyPr>
          <a:lstStyle/>
          <a:p>
            <a:r>
              <a:rPr sz="1050" b="1">
                <a:solidFill>
                  <a:srgbClr val="1F3A5F"/>
                </a:solidFill>
                <a:latin typeface="Calibri"/>
              </a:rPr>
              <a:t>32 pasos = cota inferior</a:t>
            </a:r>
            <a:r>
              <a:rPr sz="1050">
                <a:solidFill>
                  <a:srgbClr val="ADABA8"/>
                </a:solidFill>
                <a:latin typeface="Calibri"/>
              </a:rPr>
              <a:t>   ·   </a:t>
            </a:r>
            <a:r>
              <a:rPr sz="1050" b="0">
                <a:solidFill>
                  <a:srgbClr val="1F1F1F"/>
                </a:solidFill>
                <a:latin typeface="Calibri"/>
              </a:rPr>
              <a:t>0 % de éxito en el caso invertido</a:t>
            </a:r>
            <a:r>
              <a:rPr sz="1050">
                <a:solidFill>
                  <a:srgbClr val="ADABA8"/>
                </a:solidFill>
                <a:latin typeface="Calibri"/>
              </a:rPr>
              <a:t>   ·   </a:t>
            </a:r>
            <a:r>
              <a:rPr sz="1050" b="0">
                <a:solidFill>
                  <a:srgbClr val="1F1F1F"/>
                </a:solidFill>
                <a:latin typeface="Calibri"/>
              </a:rPr>
              <a:t>13 celdas únicas recorridas</a:t>
            </a:r>
            <a:r>
              <a:rPr sz="1050">
                <a:solidFill>
                  <a:srgbClr val="ADABA8"/>
                </a:solidFill>
                <a:latin typeface="Calibri"/>
              </a:rPr>
              <a:t>   ·   </a:t>
            </a:r>
            <a:r>
              <a:rPr sz="1050" b="0">
                <a:solidFill>
                  <a:srgbClr val="1F1F1F"/>
                </a:solidFill>
                <a:latin typeface="Calibri"/>
              </a:rPr>
              <a:t>ciclo (12,12) ↔ (13,12)</a:t>
            </a:r>
          </a:p>
        </p:txBody>
      </p:sp>
      <p:sp>
        <p:nvSpPr>
          <p:cNvPr id="16" name="TextBox 15"/>
          <p:cNvSpPr txBox="1"/>
          <p:nvPr/>
        </p:nvSpPr>
        <p:spPr>
          <a:xfrm>
            <a:off x="548640" y="6419088"/>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7A7A7A"/>
                </a:solidFill>
                <a:latin typeface="Calibri"/>
              </a:rPr>
              <a:t>Figura B1 · Bug2 simplificado de la guía, mapa 20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1F3A5F"/>
          </a:solidFill>
          <a:ln>
            <a:noFill/>
          </a:ln>
          <a:effectLst/>
        </p:spPr>
        <p:txBody>
          <a:bodyPr rtlCol="0" anchor="ctr"/>
          <a:lstStyle/>
          <a:p>
            <a:pPr algn="ctr"/>
          </a:p>
        </p:txBody>
      </p:sp>
      <p:sp>
        <p:nvSpPr>
          <p:cNvPr id="4" name="Rectangle 3"/>
          <p:cNvSpPr/>
          <p:nvPr/>
        </p:nvSpPr>
        <p:spPr>
          <a:xfrm>
            <a:off x="0" y="201168"/>
            <a:ext cx="12191695" cy="14630"/>
          </a:xfrm>
          <a:prstGeom prst="rect">
            <a:avLst/>
          </a:prstGeom>
          <a:solidFill>
            <a:srgbClr val="ADABA8"/>
          </a:solidFill>
          <a:ln>
            <a:noFill/>
          </a:ln>
          <a:effectLst/>
        </p:spPr>
        <p:txBody>
          <a:bodyPr rtlCol="0" anchor="ctr"/>
          <a:lstStyle/>
          <a:p>
            <a:pPr algn="ctr"/>
          </a:p>
        </p:txBody>
      </p:sp>
      <p:sp>
        <p:nvSpPr>
          <p:cNvPr id="5" name="TextBox 4"/>
          <p:cNvSpPr txBox="1"/>
          <p:nvPr/>
        </p:nvSpPr>
        <p:spPr>
          <a:xfrm>
            <a:off x="548640" y="475488"/>
            <a:ext cx="11109960" cy="566928"/>
          </a:xfrm>
          <a:prstGeom prst="rect">
            <a:avLst/>
          </a:prstGeom>
          <a:noFill/>
        </p:spPr>
        <p:txBody>
          <a:bodyPr wrap="square" anchor="ctr" lIns="0" rIns="0" tIns="0" bIns="0">
            <a:noAutofit/>
          </a:bodyPr>
          <a:lstStyle/>
          <a:p>
            <a:pPr algn="l">
              <a:lnSpc>
                <a:spcPct val="100000"/>
              </a:lnSpc>
              <a:spcBef>
                <a:spcPts val="0"/>
              </a:spcBef>
              <a:spcAft>
                <a:spcPts val="0"/>
              </a:spcAft>
            </a:pPr>
            <a:r>
              <a:rPr sz="2500" b="1" i="0">
                <a:solidFill>
                  <a:srgbClr val="1F3A5F"/>
                </a:solidFill>
                <a:latin typeface="Calibri"/>
              </a:rPr>
              <a:t>C · A*: camino óptimo, pero expande el 85 % de las celdas libres</a:t>
            </a:r>
          </a:p>
        </p:txBody>
      </p:sp>
      <p:sp>
        <p:nvSpPr>
          <p:cNvPr id="6" name="TextBox 5"/>
          <p:cNvSpPr txBox="1"/>
          <p:nvPr/>
        </p:nvSpPr>
        <p:spPr>
          <a:xfrm>
            <a:off x="548640" y="1097280"/>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1100" b="0" i="0">
                <a:solidFill>
                  <a:srgbClr val="7A7A7A"/>
                </a:solidFill>
                <a:latin typeface="Calibri"/>
              </a:rPr>
              <a:t>f(n) = g(n) + h(n)   ·   h euclidiana   ·   4 vecinos con costo 1 por arista</a:t>
            </a:r>
          </a:p>
        </p:txBody>
      </p:sp>
      <p:sp>
        <p:nvSpPr>
          <p:cNvPr id="7" name="Rectangle 6"/>
          <p:cNvSpPr/>
          <p:nvPr/>
        </p:nvSpPr>
        <p:spPr>
          <a:xfrm>
            <a:off x="502920" y="1481328"/>
            <a:ext cx="4434840" cy="3913632"/>
          </a:xfrm>
          <a:prstGeom prst="rect">
            <a:avLst/>
          </a:prstGeom>
          <a:solidFill>
            <a:srgbClr val="FFFFFF"/>
          </a:solidFill>
          <a:ln w="9525">
            <a:solidFill>
              <a:srgbClr val="D8D3C8"/>
            </a:solidFill>
          </a:ln>
          <a:effectLst/>
        </p:spPr>
        <p:txBody>
          <a:bodyPr rtlCol="0" anchor="ctr"/>
          <a:lstStyle/>
          <a:p>
            <a:pPr algn="ctr"/>
          </a:p>
        </p:txBody>
      </p:sp>
      <p:pic>
        <p:nvPicPr>
          <p:cNvPr id="8" name="Picture 7" descr="C1_astar.png"/>
          <p:cNvPicPr>
            <a:picLocks noChangeAspect="1"/>
          </p:cNvPicPr>
          <p:nvPr/>
        </p:nvPicPr>
        <p:blipFill>
          <a:blip r:embed="rId2"/>
          <a:stretch>
            <a:fillRect/>
          </a:stretch>
        </p:blipFill>
        <p:spPr>
          <a:xfrm>
            <a:off x="950641" y="1609344"/>
            <a:ext cx="3539397" cy="3657600"/>
          </a:xfrm>
          <a:prstGeom prst="rect">
            <a:avLst/>
          </a:prstGeom>
        </p:spPr>
      </p:pic>
      <p:sp>
        <p:nvSpPr>
          <p:cNvPr id="9" name="TextBox 8"/>
          <p:cNvSpPr txBox="1"/>
          <p:nvPr/>
        </p:nvSpPr>
        <p:spPr>
          <a:xfrm>
            <a:off x="502920" y="5477256"/>
            <a:ext cx="4434840" cy="365760"/>
          </a:xfrm>
          <a:prstGeom prst="rect">
            <a:avLst/>
          </a:prstGeom>
          <a:noFill/>
        </p:spPr>
        <p:txBody>
          <a:bodyPr wrap="square" anchor="t" lIns="0" rIns="0" tIns="0" bIns="0">
            <a:noAutofit/>
          </a:bodyPr>
          <a:lstStyle/>
          <a:p>
            <a:pPr algn="ctr">
              <a:lnSpc>
                <a:spcPct val="115000"/>
              </a:lnSpc>
              <a:spcBef>
                <a:spcPts val="0"/>
              </a:spcBef>
              <a:spcAft>
                <a:spcPts val="0"/>
              </a:spcAft>
            </a:pPr>
            <a:r>
              <a:rPr sz="900" b="0" i="0">
                <a:solidFill>
                  <a:srgbClr val="7A7A7A"/>
                </a:solidFill>
                <a:latin typeface="Calibri"/>
              </a:rPr>
              <a:t>En gris, los 305 nodos extraídos de la cola; en rojo, el camino de 32 pasos. Es otra ruta que la de Bug2, con la misma longitud.</a:t>
            </a:r>
          </a:p>
        </p:txBody>
      </p:sp>
      <p:sp>
        <p:nvSpPr>
          <p:cNvPr id="10" name="TextBox 9"/>
          <p:cNvSpPr txBox="1"/>
          <p:nvPr/>
        </p:nvSpPr>
        <p:spPr>
          <a:xfrm>
            <a:off x="5230368" y="1481328"/>
            <a:ext cx="6446520" cy="114300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C1 · ¿Qué diferencia hay entre BFS, UCS y A*?</a:t>
            </a:r>
          </a:p>
          <a:p>
            <a:pPr algn="l">
              <a:lnSpc>
                <a:spcPct val="104000"/>
              </a:lnSpc>
              <a:spcBef>
                <a:spcPts val="0"/>
              </a:spcBef>
              <a:spcAft>
                <a:spcPts val="0"/>
              </a:spcAft>
            </a:pPr>
            <a:r>
              <a:rPr sz="1350" b="0" i="0">
                <a:solidFill>
                  <a:srgbClr val="1F1F1F"/>
                </a:solidFill>
                <a:latin typeface="Calibri"/>
              </a:rPr>
              <a:t>BFS expande por número de aristas (cola FIFO), UCS por costo g (cola de prioridad) y A* por g + h. BFS es UCS cuando todas las aristas cuestan 1; UCS es A* cuando h = 0.</a:t>
            </a:r>
          </a:p>
        </p:txBody>
      </p:sp>
      <p:sp>
        <p:nvSpPr>
          <p:cNvPr id="11" name="TextBox 10"/>
          <p:cNvSpPr txBox="1"/>
          <p:nvPr/>
        </p:nvSpPr>
        <p:spPr>
          <a:xfrm>
            <a:off x="5230368" y="2606040"/>
            <a:ext cx="6446520" cy="137160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C2 · ¿Cuál es el papel de la heurística?</a:t>
            </a:r>
          </a:p>
          <a:p>
            <a:pPr algn="l">
              <a:lnSpc>
                <a:spcPct val="104000"/>
              </a:lnSpc>
              <a:spcBef>
                <a:spcPts val="0"/>
              </a:spcBef>
              <a:spcAft>
                <a:spcPts val="0"/>
              </a:spcAft>
            </a:pPr>
            <a:r>
              <a:rPr sz="1350" b="0" i="0">
                <a:solidFill>
                  <a:srgbClr val="1F1F1F"/>
                </a:solidFill>
                <a:latin typeface="Calibri"/>
              </a:rPr>
              <a:t>Estima el costo que falta y sesga la búsqueda hacia lo prometedor: con h informativa se expanden menos nodos y se obtiene el mismo camino óptimo. Para garantizarlo h debe ser admisible, h(n) ≤ h*(n), y consistente.</a:t>
            </a:r>
          </a:p>
        </p:txBody>
      </p:sp>
      <p:sp>
        <p:nvSpPr>
          <p:cNvPr id="12" name="TextBox 11"/>
          <p:cNvSpPr txBox="1"/>
          <p:nvPr/>
        </p:nvSpPr>
        <p:spPr>
          <a:xfrm>
            <a:off x="5230368" y="3950208"/>
            <a:ext cx="6446520" cy="173736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C3 · ¿Qué ocurre si la heurística no es adecuada?</a:t>
            </a:r>
          </a:p>
          <a:p>
            <a:pPr algn="l">
              <a:lnSpc>
                <a:spcPct val="104000"/>
              </a:lnSpc>
              <a:spcBef>
                <a:spcPts val="0"/>
              </a:spcBef>
              <a:spcAft>
                <a:spcPts val="0"/>
              </a:spcAft>
            </a:pPr>
            <a:r>
              <a:rPr sz="1350" b="0" i="0">
                <a:solidFill>
                  <a:srgbClr val="1F1F1F"/>
                </a:solidFill>
                <a:latin typeface="Calibri"/>
              </a:rPr>
              <a:t>Si sobreestima, A* puede devolver un camino subóptimo. Si subestima mucho (h = 0) se degrada a UCS y explora más. La euclidiana es admisible, pero en 4-conectividad es floja: una heurística Manhattan, más ajustada a la métrica, expandiría menos celdas.</a:t>
            </a:r>
          </a:p>
        </p:txBody>
      </p:sp>
      <p:sp>
        <p:nvSpPr>
          <p:cNvPr id="13" name="Rectangle 12"/>
          <p:cNvSpPr/>
          <p:nvPr/>
        </p:nvSpPr>
        <p:spPr>
          <a:xfrm>
            <a:off x="548640" y="5961888"/>
            <a:ext cx="11109960" cy="402336"/>
          </a:xfrm>
          <a:prstGeom prst="rect">
            <a:avLst/>
          </a:prstGeom>
          <a:solidFill>
            <a:srgbClr val="FFFFFF"/>
          </a:solidFill>
          <a:ln w="9525">
            <a:solidFill>
              <a:srgbClr val="D8D3C8"/>
            </a:solidFill>
          </a:ln>
          <a:effectLst/>
        </p:spPr>
        <p:txBody>
          <a:bodyPr rtlCol="0" anchor="ctr"/>
          <a:lstStyle/>
          <a:p>
            <a:pPr algn="ctr"/>
          </a:p>
        </p:txBody>
      </p:sp>
      <p:sp>
        <p:nvSpPr>
          <p:cNvPr id="14" name="Rectangle 13"/>
          <p:cNvSpPr/>
          <p:nvPr/>
        </p:nvSpPr>
        <p:spPr>
          <a:xfrm>
            <a:off x="548640" y="5961888"/>
            <a:ext cx="68580" cy="402336"/>
          </a:xfrm>
          <a:prstGeom prst="rect">
            <a:avLst/>
          </a:prstGeom>
          <a:solidFill>
            <a:srgbClr val="1F3A5F"/>
          </a:solidFill>
          <a:ln>
            <a:noFill/>
          </a:ln>
          <a:effectLst/>
        </p:spPr>
        <p:txBody>
          <a:bodyPr rtlCol="0" anchor="ctr"/>
          <a:lstStyle/>
          <a:p>
            <a:pPr algn="ctr"/>
          </a:p>
        </p:txBody>
      </p:sp>
      <p:sp>
        <p:nvSpPr>
          <p:cNvPr id="15" name="TextBox 14"/>
          <p:cNvSpPr txBox="1"/>
          <p:nvPr/>
        </p:nvSpPr>
        <p:spPr>
          <a:xfrm>
            <a:off x="749808" y="5961888"/>
            <a:ext cx="10789920" cy="402336"/>
          </a:xfrm>
          <a:prstGeom prst="rect">
            <a:avLst/>
          </a:prstGeom>
          <a:noFill/>
        </p:spPr>
        <p:txBody>
          <a:bodyPr wrap="square" anchor="ctr" lIns="0" rIns="0" tIns="0" bIns="0">
            <a:noAutofit/>
          </a:bodyPr>
          <a:lstStyle/>
          <a:p>
            <a:r>
              <a:rPr sz="1050" b="1">
                <a:solidFill>
                  <a:srgbClr val="1F3A5F"/>
                </a:solidFill>
                <a:latin typeface="Calibri"/>
              </a:rPr>
              <a:t>32 pasos</a:t>
            </a:r>
            <a:r>
              <a:rPr sz="1050">
                <a:solidFill>
                  <a:srgbClr val="ADABA8"/>
                </a:solidFill>
                <a:latin typeface="Calibri"/>
              </a:rPr>
              <a:t>   ·   </a:t>
            </a:r>
            <a:r>
              <a:rPr sz="1050" b="0">
                <a:solidFill>
                  <a:srgbClr val="1F1F1F"/>
                </a:solidFill>
                <a:latin typeface="Calibri"/>
              </a:rPr>
              <a:t>305 de 360 celdas expandidas (85 %)</a:t>
            </a:r>
            <a:r>
              <a:rPr sz="1050">
                <a:solidFill>
                  <a:srgbClr val="ADABA8"/>
                </a:solidFill>
                <a:latin typeface="Calibri"/>
              </a:rPr>
              <a:t>   ·   </a:t>
            </a:r>
            <a:r>
              <a:rPr sz="1050" b="0">
                <a:solidFill>
                  <a:srgbClr val="1F1F1F"/>
                </a:solidFill>
                <a:latin typeface="Calibri"/>
              </a:rPr>
              <a:t>347 nodos encolados</a:t>
            </a:r>
            <a:r>
              <a:rPr sz="1050">
                <a:solidFill>
                  <a:srgbClr val="ADABA8"/>
                </a:solidFill>
                <a:latin typeface="Calibri"/>
              </a:rPr>
              <a:t>   ·   </a:t>
            </a:r>
            <a:r>
              <a:rPr sz="1050" b="0">
                <a:solidFill>
                  <a:srgbClr val="1F1F1F"/>
                </a:solidFill>
                <a:latin typeface="Calibri"/>
              </a:rPr>
              <a:t>≈ 1.2 ms</a:t>
            </a:r>
          </a:p>
        </p:txBody>
      </p:sp>
      <p:sp>
        <p:nvSpPr>
          <p:cNvPr id="16" name="TextBox 15"/>
          <p:cNvSpPr txBox="1"/>
          <p:nvPr/>
        </p:nvSpPr>
        <p:spPr>
          <a:xfrm>
            <a:off x="548640" y="6419088"/>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7A7A7A"/>
                </a:solidFill>
                <a:latin typeface="Calibri"/>
              </a:rPr>
              <a:t>Figura C1 · A* con heurística euclidiana sobre el grid 20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1F3A5F"/>
          </a:solidFill>
          <a:ln>
            <a:noFill/>
          </a:ln>
          <a:effectLst/>
        </p:spPr>
        <p:txBody>
          <a:bodyPr rtlCol="0" anchor="ctr"/>
          <a:lstStyle/>
          <a:p>
            <a:pPr algn="ctr"/>
          </a:p>
        </p:txBody>
      </p:sp>
      <p:sp>
        <p:nvSpPr>
          <p:cNvPr id="4" name="Rectangle 3"/>
          <p:cNvSpPr/>
          <p:nvPr/>
        </p:nvSpPr>
        <p:spPr>
          <a:xfrm>
            <a:off x="0" y="201168"/>
            <a:ext cx="12191695" cy="14630"/>
          </a:xfrm>
          <a:prstGeom prst="rect">
            <a:avLst/>
          </a:prstGeom>
          <a:solidFill>
            <a:srgbClr val="ADABA8"/>
          </a:solidFill>
          <a:ln>
            <a:noFill/>
          </a:ln>
          <a:effectLst/>
        </p:spPr>
        <p:txBody>
          <a:bodyPr rtlCol="0" anchor="ctr"/>
          <a:lstStyle/>
          <a:p>
            <a:pPr algn="ctr"/>
          </a:p>
        </p:txBody>
      </p:sp>
      <p:sp>
        <p:nvSpPr>
          <p:cNvPr id="5" name="TextBox 4"/>
          <p:cNvSpPr txBox="1"/>
          <p:nvPr/>
        </p:nvSpPr>
        <p:spPr>
          <a:xfrm>
            <a:off x="548640" y="475488"/>
            <a:ext cx="11109960" cy="566928"/>
          </a:xfrm>
          <a:prstGeom prst="rect">
            <a:avLst/>
          </a:prstGeom>
          <a:noFill/>
        </p:spPr>
        <p:txBody>
          <a:bodyPr wrap="square" anchor="ctr" lIns="0" rIns="0" tIns="0" bIns="0">
            <a:noAutofit/>
          </a:bodyPr>
          <a:lstStyle/>
          <a:p>
            <a:pPr algn="l">
              <a:lnSpc>
                <a:spcPct val="100000"/>
              </a:lnSpc>
              <a:spcBef>
                <a:spcPts val="0"/>
              </a:spcBef>
              <a:spcAft>
                <a:spcPts val="0"/>
              </a:spcAft>
            </a:pPr>
            <a:r>
              <a:rPr sz="2500" b="1" i="0">
                <a:solidFill>
                  <a:srgbClr val="1F3A5F"/>
                </a:solidFill>
                <a:latin typeface="Calibri"/>
              </a:rPr>
              <a:t>D · Distance transform: óptimo en Manhattan al llegar al punto fijo</a:t>
            </a:r>
          </a:p>
        </p:txBody>
      </p:sp>
      <p:sp>
        <p:nvSpPr>
          <p:cNvPr id="6" name="TextBox 5"/>
          <p:cNvSpPr txBox="1"/>
          <p:nvPr/>
        </p:nvSpPr>
        <p:spPr>
          <a:xfrm>
            <a:off x="548640" y="1097280"/>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1100" b="0" i="0">
                <a:solidFill>
                  <a:srgbClr val="7A7A7A"/>
                </a:solidFill>
                <a:latin typeface="Calibri"/>
              </a:rPr>
              <a:t>D(meta) = 0   ·   D(c) = 1 + mín D(vecinos)   ·   problema invertido: (18, 18) → (2, 2)</a:t>
            </a:r>
          </a:p>
        </p:txBody>
      </p:sp>
      <p:sp>
        <p:nvSpPr>
          <p:cNvPr id="7" name="Rectangle 6"/>
          <p:cNvSpPr/>
          <p:nvPr/>
        </p:nvSpPr>
        <p:spPr>
          <a:xfrm>
            <a:off x="502920" y="1481328"/>
            <a:ext cx="4434840" cy="3913632"/>
          </a:xfrm>
          <a:prstGeom prst="rect">
            <a:avLst/>
          </a:prstGeom>
          <a:solidFill>
            <a:srgbClr val="FFFFFF"/>
          </a:solidFill>
          <a:ln w="9525">
            <a:solidFill>
              <a:srgbClr val="D8D3C8"/>
            </a:solidFill>
          </a:ln>
          <a:effectLst/>
        </p:spPr>
        <p:txBody>
          <a:bodyPr rtlCol="0" anchor="ctr"/>
          <a:lstStyle/>
          <a:p>
            <a:pPr algn="ctr"/>
          </a:p>
        </p:txBody>
      </p:sp>
      <p:pic>
        <p:nvPicPr>
          <p:cNvPr id="8" name="Picture 7" descr="D1_distance_transform.png"/>
          <p:cNvPicPr>
            <a:picLocks noChangeAspect="1"/>
          </p:cNvPicPr>
          <p:nvPr/>
        </p:nvPicPr>
        <p:blipFill>
          <a:blip r:embed="rId2"/>
          <a:stretch>
            <a:fillRect/>
          </a:stretch>
        </p:blipFill>
        <p:spPr>
          <a:xfrm>
            <a:off x="630936" y="1629961"/>
            <a:ext cx="4178807" cy="3616365"/>
          </a:xfrm>
          <a:prstGeom prst="rect">
            <a:avLst/>
          </a:prstGeom>
        </p:spPr>
      </p:pic>
      <p:sp>
        <p:nvSpPr>
          <p:cNvPr id="9" name="TextBox 8"/>
          <p:cNvSpPr txBox="1"/>
          <p:nvPr/>
        </p:nvSpPr>
        <p:spPr>
          <a:xfrm>
            <a:off x="502920" y="5477256"/>
            <a:ext cx="4434840" cy="365760"/>
          </a:xfrm>
          <a:prstGeom prst="rect">
            <a:avLst/>
          </a:prstGeom>
          <a:noFill/>
        </p:spPr>
        <p:txBody>
          <a:bodyPr wrap="square" anchor="t" lIns="0" rIns="0" tIns="0" bIns="0">
            <a:noAutofit/>
          </a:bodyPr>
          <a:lstStyle/>
          <a:p>
            <a:pPr algn="ctr">
              <a:lnSpc>
                <a:spcPct val="115000"/>
              </a:lnSpc>
              <a:spcBef>
                <a:spcPts val="0"/>
              </a:spcBef>
              <a:spcAft>
                <a:spcPts val="0"/>
              </a:spcAft>
            </a:pPr>
            <a:r>
              <a:rPr sz="900" b="0" i="0">
                <a:solidFill>
                  <a:srgbClr val="7A7A7A"/>
                </a:solidFill>
                <a:latin typeface="Calibri"/>
              </a:rPr>
              <a:t>Mapa de calor de la distancia Manhattan al objetivo. La trayectoria cian baja por el gradiente; dist[inicio] = 32 coincide con la longitud del camino.</a:t>
            </a:r>
          </a:p>
        </p:txBody>
      </p:sp>
      <p:sp>
        <p:nvSpPr>
          <p:cNvPr id="10" name="TextBox 9"/>
          <p:cNvSpPr txBox="1"/>
          <p:nvPr/>
        </p:nvSpPr>
        <p:spPr>
          <a:xfrm>
            <a:off x="5230368" y="1481328"/>
            <a:ext cx="6446520" cy="141732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D1 · ¿Por qué este método garantiza optimalidad?</a:t>
            </a:r>
          </a:p>
          <a:p>
            <a:pPr algn="l">
              <a:lnSpc>
                <a:spcPct val="104000"/>
              </a:lnSpc>
              <a:spcBef>
                <a:spcPts val="0"/>
              </a:spcBef>
              <a:spcAft>
                <a:spcPts val="0"/>
              </a:spcAft>
            </a:pPr>
            <a:r>
              <a:rPr sz="1350" b="0" i="0">
                <a:solidFill>
                  <a:srgbClr val="1F1F1F"/>
                </a:solidFill>
                <a:latin typeface="Calibri"/>
              </a:rPr>
              <a:t>En el punto fijo cada paso baja D exactamente en 1, así que se llega en D(c) pasos; por inducción D(c) ≤ L para cualquier camino de longitud L, luego es la distancia mínima. La guía lo titula «no óptimo» porque optimiza la métrica Manhattan y fija 100 barridos sin verificar convergencia.</a:t>
            </a:r>
          </a:p>
        </p:txBody>
      </p:sp>
      <p:sp>
        <p:nvSpPr>
          <p:cNvPr id="11" name="TextBox 10"/>
          <p:cNvSpPr txBox="1"/>
          <p:nvPr/>
        </p:nvSpPr>
        <p:spPr>
          <a:xfrm>
            <a:off x="5230368" y="2880360"/>
            <a:ext cx="6446520" cy="123444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D2 · ¿Cuál es su costo computacional?</a:t>
            </a:r>
          </a:p>
          <a:p>
            <a:pPr algn="l">
              <a:lnSpc>
                <a:spcPct val="104000"/>
              </a:lnSpc>
              <a:spcBef>
                <a:spcPts val="0"/>
              </a:spcBef>
              <a:spcAft>
                <a:spcPts val="0"/>
              </a:spcAft>
            </a:pPr>
            <a:r>
              <a:rPr sz="1350" b="0" i="0">
                <a:solidFill>
                  <a:srgbClr val="1F1F1F"/>
                </a:solidFill>
                <a:latin typeface="Calibri"/>
              </a:rPr>
              <a:t>Cada barrido cuesta O(N²) y hacen falta O(N) barridos en mapa abierto, hasta O(N²) en un laberinto: O(N³) típico y O(N⁴) en el peor caso, con memoria O(N²).</a:t>
            </a:r>
          </a:p>
        </p:txBody>
      </p:sp>
      <p:sp>
        <p:nvSpPr>
          <p:cNvPr id="12" name="TextBox 11"/>
          <p:cNvSpPr txBox="1"/>
          <p:nvPr/>
        </p:nvSpPr>
        <p:spPr>
          <a:xfrm>
            <a:off x="5230368" y="4041648"/>
            <a:ext cx="6446520" cy="1645920"/>
          </a:xfrm>
          <a:prstGeom prst="rect">
            <a:avLst/>
          </a:prstGeom>
          <a:noFill/>
        </p:spPr>
        <p:txBody>
          <a:bodyPr wrap="square" anchor="t" lIns="0" rIns="0" tIns="0" bIns="0">
            <a:noAutofit/>
          </a:bodyPr>
          <a:lstStyle/>
          <a:p>
            <a:pPr algn="l">
              <a:lnSpc>
                <a:spcPct val="100000"/>
              </a:lnSpc>
              <a:spcBef>
                <a:spcPts val="0"/>
              </a:spcBef>
              <a:spcAft>
                <a:spcPts val="300"/>
              </a:spcAft>
            </a:pPr>
            <a:r>
              <a:rPr sz="1150" b="1" i="0">
                <a:solidFill>
                  <a:srgbClr val="1F3A5F"/>
                </a:solidFill>
                <a:latin typeface="Calibri"/>
              </a:rPr>
              <a:t>D3 · Compare con el algoritmo Bug2.</a:t>
            </a:r>
          </a:p>
          <a:p>
            <a:pPr algn="l">
              <a:lnSpc>
                <a:spcPct val="104000"/>
              </a:lnSpc>
              <a:spcBef>
                <a:spcPts val="0"/>
              </a:spcBef>
              <a:spcAft>
                <a:spcPts val="0"/>
              </a:spcAft>
            </a:pPr>
            <a:r>
              <a:rPr sz="1350" b="0" i="0">
                <a:solidFill>
                  <a:srgbClr val="1F1F1F"/>
                </a:solidFill>
                <a:latin typeface="Calibri"/>
              </a:rPr>
              <a:t>Bug2 decide en línea con sensores locales; el DT precomputa la solución para todo el mapa. Aquí empatan en 32 pasos, pero en la casa del libro el DT da 338 y el Bug2 completo 1307. El DT no cicla; el Bug2 simplificado sí.</a:t>
            </a:r>
          </a:p>
        </p:txBody>
      </p:sp>
      <p:sp>
        <p:nvSpPr>
          <p:cNvPr id="13" name="Rectangle 12"/>
          <p:cNvSpPr/>
          <p:nvPr/>
        </p:nvSpPr>
        <p:spPr>
          <a:xfrm>
            <a:off x="548640" y="5961888"/>
            <a:ext cx="11109960" cy="402336"/>
          </a:xfrm>
          <a:prstGeom prst="rect">
            <a:avLst/>
          </a:prstGeom>
          <a:solidFill>
            <a:srgbClr val="FFFFFF"/>
          </a:solidFill>
          <a:ln w="9525">
            <a:solidFill>
              <a:srgbClr val="D8D3C8"/>
            </a:solidFill>
          </a:ln>
          <a:effectLst/>
        </p:spPr>
        <p:txBody>
          <a:bodyPr rtlCol="0" anchor="ctr"/>
          <a:lstStyle/>
          <a:p>
            <a:pPr algn="ctr"/>
          </a:p>
        </p:txBody>
      </p:sp>
      <p:sp>
        <p:nvSpPr>
          <p:cNvPr id="14" name="Rectangle 13"/>
          <p:cNvSpPr/>
          <p:nvPr/>
        </p:nvSpPr>
        <p:spPr>
          <a:xfrm>
            <a:off x="548640" y="5961888"/>
            <a:ext cx="68580" cy="402336"/>
          </a:xfrm>
          <a:prstGeom prst="rect">
            <a:avLst/>
          </a:prstGeom>
          <a:solidFill>
            <a:srgbClr val="1F3A5F"/>
          </a:solidFill>
          <a:ln>
            <a:noFill/>
          </a:ln>
          <a:effectLst/>
        </p:spPr>
        <p:txBody>
          <a:bodyPr rtlCol="0" anchor="ctr"/>
          <a:lstStyle/>
          <a:p>
            <a:pPr algn="ctr"/>
          </a:p>
        </p:txBody>
      </p:sp>
      <p:sp>
        <p:nvSpPr>
          <p:cNvPr id="15" name="TextBox 14"/>
          <p:cNvSpPr txBox="1"/>
          <p:nvPr/>
        </p:nvSpPr>
        <p:spPr>
          <a:xfrm>
            <a:off x="749808" y="5961888"/>
            <a:ext cx="10789920" cy="402336"/>
          </a:xfrm>
          <a:prstGeom prst="rect">
            <a:avLst/>
          </a:prstGeom>
          <a:noFill/>
        </p:spPr>
        <p:txBody>
          <a:bodyPr wrap="square" anchor="ctr" lIns="0" rIns="0" tIns="0" bIns="0">
            <a:noAutofit/>
          </a:bodyPr>
          <a:lstStyle/>
          <a:p>
            <a:r>
              <a:rPr sz="1050" b="1">
                <a:solidFill>
                  <a:srgbClr val="1F3A5F"/>
                </a:solidFill>
                <a:latin typeface="Calibri"/>
              </a:rPr>
              <a:t>dist[inicio] = 32 = longitud del camino</a:t>
            </a:r>
            <a:r>
              <a:rPr sz="1050">
                <a:solidFill>
                  <a:srgbClr val="ADABA8"/>
                </a:solidFill>
                <a:latin typeface="Calibri"/>
              </a:rPr>
              <a:t>   ·   </a:t>
            </a:r>
            <a:r>
              <a:rPr sz="1050" b="0">
                <a:solidFill>
                  <a:srgbClr val="1F1F1F"/>
                </a:solidFill>
                <a:latin typeface="Calibri"/>
              </a:rPr>
              <a:t>se estabiliza en 5 barridos (el código corre 100)</a:t>
            </a:r>
            <a:r>
              <a:rPr sz="1050">
                <a:solidFill>
                  <a:srgbClr val="ADABA8"/>
                </a:solidFill>
                <a:latin typeface="Calibri"/>
              </a:rPr>
              <a:t>   ·   </a:t>
            </a:r>
            <a:r>
              <a:rPr sz="1050" b="0">
                <a:solidFill>
                  <a:srgbClr val="1F1F1F"/>
                </a:solidFill>
                <a:latin typeface="Calibri"/>
              </a:rPr>
              <a:t>360 celdas libres, 40 obstáculos</a:t>
            </a:r>
            <a:r>
              <a:rPr sz="1050">
                <a:solidFill>
                  <a:srgbClr val="ADABA8"/>
                </a:solidFill>
                <a:latin typeface="Calibri"/>
              </a:rPr>
              <a:t>   ·   </a:t>
            </a:r>
            <a:r>
              <a:rPr sz="1050" b="0">
                <a:solidFill>
                  <a:srgbClr val="1F1F1F"/>
                </a:solidFill>
                <a:latin typeface="Calibri"/>
              </a:rPr>
              <a:t>≈ 31 ms</a:t>
            </a:r>
          </a:p>
        </p:txBody>
      </p:sp>
      <p:sp>
        <p:nvSpPr>
          <p:cNvPr id="16" name="TextBox 15"/>
          <p:cNvSpPr txBox="1"/>
          <p:nvPr/>
        </p:nvSpPr>
        <p:spPr>
          <a:xfrm>
            <a:off x="548640" y="6419088"/>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7A7A7A"/>
                </a:solidFill>
                <a:latin typeface="Calibri"/>
              </a:rPr>
              <a:t>Figura D1 · Distance transform iterativo de 4 vecinos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1F3A5F"/>
          </a:solidFill>
          <a:ln>
            <a:noFill/>
          </a:ln>
          <a:effectLst/>
        </p:spPr>
        <p:txBody>
          <a:bodyPr rtlCol="0" anchor="ctr"/>
          <a:lstStyle/>
          <a:p>
            <a:pPr algn="ctr"/>
          </a:p>
        </p:txBody>
      </p:sp>
      <p:sp>
        <p:nvSpPr>
          <p:cNvPr id="4" name="Rectangle 3"/>
          <p:cNvSpPr/>
          <p:nvPr/>
        </p:nvSpPr>
        <p:spPr>
          <a:xfrm>
            <a:off x="0" y="201168"/>
            <a:ext cx="12191695" cy="14630"/>
          </a:xfrm>
          <a:prstGeom prst="rect">
            <a:avLst/>
          </a:prstGeom>
          <a:solidFill>
            <a:srgbClr val="ADABA8"/>
          </a:solidFill>
          <a:ln>
            <a:noFill/>
          </a:ln>
          <a:effectLst/>
        </p:spPr>
        <p:txBody>
          <a:bodyPr rtlCol="0" anchor="ctr"/>
          <a:lstStyle/>
          <a:p>
            <a:pPr algn="ctr"/>
          </a:p>
        </p:txBody>
      </p:sp>
      <p:sp>
        <p:nvSpPr>
          <p:cNvPr id="5" name="TextBox 4"/>
          <p:cNvSpPr txBox="1"/>
          <p:nvPr/>
        </p:nvSpPr>
        <p:spPr>
          <a:xfrm>
            <a:off x="548640" y="475488"/>
            <a:ext cx="11109960" cy="566928"/>
          </a:xfrm>
          <a:prstGeom prst="rect">
            <a:avLst/>
          </a:prstGeom>
          <a:noFill/>
        </p:spPr>
        <p:txBody>
          <a:bodyPr wrap="square" anchor="ctr" lIns="0" rIns="0" tIns="0" bIns="0">
            <a:noAutofit/>
          </a:bodyPr>
          <a:lstStyle/>
          <a:p>
            <a:pPr algn="l">
              <a:lnSpc>
                <a:spcPct val="100000"/>
              </a:lnSpc>
              <a:spcBef>
                <a:spcPts val="0"/>
              </a:spcBef>
              <a:spcAft>
                <a:spcPts val="0"/>
              </a:spcAft>
            </a:pPr>
            <a:r>
              <a:rPr sz="2500" b="1" i="0">
                <a:solidFill>
                  <a:srgbClr val="1F3A5F"/>
                </a:solidFill>
                <a:latin typeface="Calibri"/>
              </a:rPr>
              <a:t>Los cuatro métodos: cada uno paga la información que usa</a:t>
            </a:r>
          </a:p>
        </p:txBody>
      </p:sp>
      <p:sp>
        <p:nvSpPr>
          <p:cNvPr id="6" name="TextBox 5"/>
          <p:cNvSpPr txBox="1"/>
          <p:nvPr/>
        </p:nvSpPr>
        <p:spPr>
          <a:xfrm>
            <a:off x="548640" y="1097280"/>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1100" b="0" i="0">
                <a:solidFill>
                  <a:srgbClr val="7A7A7A"/>
                </a:solidFill>
                <a:latin typeface="Calibri"/>
              </a:rPr>
              <a:t>Mismo mapa 20 × 20 en todas las partes   ·   A y B deciden en línea; C y D planifican con el mapa completo</a:t>
            </a:r>
          </a:p>
        </p:txBody>
      </p:sp>
      <p:graphicFrame>
        <p:nvGraphicFramePr>
          <p:cNvPr id="7" name="Table 6"/>
          <p:cNvGraphicFramePr>
            <a:graphicFrameLocks noGrp="1"/>
          </p:cNvGraphicFramePr>
          <p:nvPr/>
        </p:nvGraphicFramePr>
        <p:xfrm>
          <a:off x="548640" y="1517904"/>
          <a:ext cx="11109959" cy="3950208"/>
        </p:xfrm>
        <a:graphic>
          <a:graphicData uri="http://schemas.openxmlformats.org/drawingml/2006/table">
            <a:tbl>
              <a:tblPr firstRow="1">
                <a:tableStyleId>{2D5ABB26-0587-4C30-8999-92F81FD0307C}</a:tableStyleId>
              </a:tblPr>
              <a:tblGrid>
                <a:gridCol w="1874519"/>
                <a:gridCol w="1188720"/>
                <a:gridCol w="1417320"/>
                <a:gridCol w="2148840"/>
                <a:gridCol w="2377440"/>
                <a:gridCol w="2103120"/>
              </a:tblGrid>
              <a:tr h="475488">
                <a:tc>
                  <a:txBody>
                    <a:bodyPr wrap="square"/>
                    <a:lstStyle/>
                    <a:p>
                      <a:pPr algn="l">
                        <a:lnSpc>
                          <a:spcPct val="102000"/>
                        </a:lnSpc>
                      </a:pPr>
                      <a:r>
                        <a:rPr sz="1050" b="1">
                          <a:solidFill>
                            <a:srgbClr val="FFFFFF"/>
                          </a:solidFill>
                          <a:latin typeface="Calibri"/>
                        </a:rPr>
                        <a:t>Método</a:t>
                      </a:r>
                    </a:p>
                  </a:txBody>
                  <a:tcPr anchor="ctr" marL="109728" marR="91440" marT="45720" marB="45720">
                    <a:solidFill>
                      <a:srgbClr val="1F3A5F"/>
                    </a:solidFill>
                  </a:tcPr>
                </a:tc>
                <a:tc>
                  <a:txBody>
                    <a:bodyPr wrap="square"/>
                    <a:lstStyle/>
                    <a:p>
                      <a:pPr algn="ctr">
                        <a:lnSpc>
                          <a:spcPct val="102000"/>
                        </a:lnSpc>
                      </a:pPr>
                      <a:r>
                        <a:rPr sz="1050" b="1">
                          <a:solidFill>
                            <a:srgbClr val="FFFFFF"/>
                          </a:solidFill>
                          <a:latin typeface="Calibri"/>
                        </a:rPr>
                        <a:t>¿Mapa global?</a:t>
                      </a:r>
                    </a:p>
                  </a:txBody>
                  <a:tcPr anchor="ctr" marL="109728" marR="91440" marT="45720" marB="45720">
                    <a:solidFill>
                      <a:srgbClr val="1F3A5F"/>
                    </a:solidFill>
                  </a:tcPr>
                </a:tc>
                <a:tc>
                  <a:txBody>
                    <a:bodyPr wrap="square"/>
                    <a:lstStyle/>
                    <a:p>
                      <a:pPr algn="ctr">
                        <a:lnSpc>
                          <a:spcPct val="102000"/>
                        </a:lnSpc>
                      </a:pPr>
                      <a:r>
                        <a:rPr sz="1050" b="1">
                          <a:solidFill>
                            <a:srgbClr val="FFFFFF"/>
                          </a:solidFill>
                          <a:latin typeface="Calibri"/>
                        </a:rPr>
                        <a:t>¿Memoria?</a:t>
                      </a:r>
                    </a:p>
                  </a:txBody>
                  <a:tcPr anchor="ctr" marL="109728" marR="91440" marT="45720" marB="45720">
                    <a:solidFill>
                      <a:srgbClr val="1F3A5F"/>
                    </a:solidFill>
                  </a:tcPr>
                </a:tc>
                <a:tc>
                  <a:txBody>
                    <a:bodyPr wrap="square"/>
                    <a:lstStyle/>
                    <a:p>
                      <a:pPr algn="ctr">
                        <a:lnSpc>
                          <a:spcPct val="102000"/>
                        </a:lnSpc>
                      </a:pPr>
                      <a:r>
                        <a:rPr sz="1050" b="1">
                          <a:solidFill>
                            <a:srgbClr val="FFFFFF"/>
                          </a:solidFill>
                          <a:latin typeface="Calibri"/>
                        </a:rPr>
                        <a:t>¿Óptimo?</a:t>
                      </a:r>
                    </a:p>
                  </a:txBody>
                  <a:tcPr anchor="ctr" marL="109728" marR="91440" marT="45720" marB="45720">
                    <a:solidFill>
                      <a:srgbClr val="1F3A5F"/>
                    </a:solidFill>
                  </a:tcPr>
                </a:tc>
                <a:tc>
                  <a:txBody>
                    <a:bodyPr wrap="square"/>
                    <a:lstStyle/>
                    <a:p>
                      <a:pPr algn="ctr">
                        <a:lnSpc>
                          <a:spcPct val="102000"/>
                        </a:lnSpc>
                      </a:pPr>
                      <a:r>
                        <a:rPr sz="1050" b="1">
                          <a:solidFill>
                            <a:srgbClr val="FFFFFF"/>
                          </a:solidFill>
                          <a:latin typeface="Calibri"/>
                        </a:rPr>
                        <a:t>Resultado en 20 × 20</a:t>
                      </a:r>
                    </a:p>
                  </a:txBody>
                  <a:tcPr anchor="ctr" marL="109728" marR="91440" marT="45720" marB="45720">
                    <a:solidFill>
                      <a:srgbClr val="1F3A5F"/>
                    </a:solidFill>
                  </a:tcPr>
                </a:tc>
                <a:tc>
                  <a:txBody>
                    <a:bodyPr wrap="square"/>
                    <a:lstStyle/>
                    <a:p>
                      <a:pPr algn="ctr">
                        <a:lnSpc>
                          <a:spcPct val="102000"/>
                        </a:lnSpc>
                      </a:pPr>
                      <a:r>
                        <a:rPr sz="1050" b="1">
                          <a:solidFill>
                            <a:srgbClr val="FFFFFF"/>
                          </a:solidFill>
                          <a:latin typeface="Calibri"/>
                        </a:rPr>
                        <a:t>Limitación clave</a:t>
                      </a:r>
                    </a:p>
                  </a:txBody>
                  <a:tcPr anchor="ctr" marL="109728" marR="91440" marT="45720" marB="45720">
                    <a:solidFill>
                      <a:srgbClr val="1F3A5F"/>
                    </a:solidFill>
                  </a:tcPr>
                </a:tc>
              </a:tr>
              <a:tr h="868680">
                <a:tc>
                  <a:txBody>
                    <a:bodyPr wrap="square"/>
                    <a:lstStyle/>
                    <a:p>
                      <a:pPr algn="l">
                        <a:lnSpc>
                          <a:spcPct val="102000"/>
                        </a:lnSpc>
                      </a:pPr>
                      <a:r>
                        <a:rPr sz="1050" b="1">
                          <a:solidFill>
                            <a:srgbClr val="1F3A5F"/>
                          </a:solidFill>
                          <a:latin typeface="Calibri"/>
                        </a:rPr>
                        <a:t>A · Braitenberg</a:t>
                      </a:r>
                    </a:p>
                  </a:txBody>
                  <a:tcPr anchor="ctr" marL="109728" marR="91440" marT="45720" marB="45720">
                    <a:solidFill>
                      <a:srgbClr val="FFFFFF"/>
                    </a:solidFill>
                  </a:tcPr>
                </a:tc>
                <a:tc>
                  <a:txBody>
                    <a:bodyPr wrap="square"/>
                    <a:lstStyle/>
                    <a:p>
                      <a:pPr algn="ctr">
                        <a:lnSpc>
                          <a:spcPct val="102000"/>
                        </a:lnSpc>
                      </a:pPr>
                      <a:r>
                        <a:rPr sz="1050" b="0">
                          <a:solidFill>
                            <a:srgbClr val="1F1F1F"/>
                          </a:solidFill>
                          <a:latin typeface="Calibri"/>
                        </a:rPr>
                        <a:t>No</a:t>
                      </a:r>
                    </a:p>
                  </a:txBody>
                  <a:tcPr anchor="ctr" marL="109728" marR="91440" marT="45720" marB="45720">
                    <a:solidFill>
                      <a:srgbClr val="FFFFFF"/>
                    </a:solidFill>
                  </a:tcPr>
                </a:tc>
                <a:tc>
                  <a:txBody>
                    <a:bodyPr wrap="square"/>
                    <a:lstStyle/>
                    <a:p>
                      <a:pPr algn="ctr">
                        <a:lnSpc>
                          <a:spcPct val="102000"/>
                        </a:lnSpc>
                      </a:pPr>
                      <a:r>
                        <a:rPr sz="1050" b="0">
                          <a:solidFill>
                            <a:srgbClr val="1F1F1F"/>
                          </a:solidFill>
                          <a:latin typeface="Calibri"/>
                        </a:rPr>
                        <a:t>No</a:t>
                      </a:r>
                    </a:p>
                  </a:txBody>
                  <a:tcPr anchor="ctr" marL="109728" marR="91440" marT="45720" marB="45720">
                    <a:solidFill>
                      <a:srgbClr val="FFFFFF"/>
                    </a:solidFill>
                  </a:tcPr>
                </a:tc>
                <a:tc>
                  <a:txBody>
                    <a:bodyPr wrap="square"/>
                    <a:lstStyle/>
                    <a:p>
                      <a:pPr algn="ctr">
                        <a:lnSpc>
                          <a:spcPct val="102000"/>
                        </a:lnSpc>
                      </a:pPr>
                      <a:r>
                        <a:rPr sz="1050" b="0">
                          <a:solidFill>
                            <a:srgbClr val="1F1F1F"/>
                          </a:solidFill>
                          <a:latin typeface="Calibri"/>
                        </a:rPr>
                        <a:t>No</a:t>
                      </a:r>
                    </a:p>
                  </a:txBody>
                  <a:tcPr anchor="ctr" marL="109728" marR="91440" marT="45720" marB="45720">
                    <a:solidFill>
                      <a:srgbClr val="FFFFFF"/>
                    </a:solidFill>
                  </a:tcPr>
                </a:tc>
                <a:tc>
                  <a:txBody>
                    <a:bodyPr wrap="square"/>
                    <a:lstStyle/>
                    <a:p>
                      <a:pPr algn="l">
                        <a:lnSpc>
                          <a:spcPct val="102000"/>
                        </a:lnSpc>
                      </a:pPr>
                      <a:r>
                        <a:rPr sz="1050" b="0">
                          <a:solidFill>
                            <a:srgbClr val="1F1F1F"/>
                          </a:solidFill>
                          <a:latin typeface="Calibri"/>
                        </a:rPr>
                        <a:t>No llega: d_mín 9.57; d_final 131.62 (T = 500)</a:t>
                      </a:r>
                    </a:p>
                  </a:txBody>
                  <a:tcPr anchor="ctr" marL="109728" marR="91440" marT="45720" marB="45720">
                    <a:solidFill>
                      <a:srgbClr val="FFFFFF"/>
                    </a:solidFill>
                  </a:tcPr>
                </a:tc>
                <a:tc>
                  <a:txBody>
                    <a:bodyPr wrap="square"/>
                    <a:lstStyle/>
                    <a:p>
                      <a:pPr algn="l">
                        <a:lnSpc>
                          <a:spcPct val="102000"/>
                        </a:lnSpc>
                      </a:pPr>
                      <a:r>
                        <a:rPr sz="1050" b="0">
                          <a:solidFill>
                            <a:srgbClr val="1F1F1F"/>
                          </a:solidFill>
                          <a:latin typeface="Calibri"/>
                        </a:rPr>
                        <a:t>Sin frenado, sin parada, sin evasión</a:t>
                      </a:r>
                    </a:p>
                  </a:txBody>
                  <a:tcPr anchor="ctr" marL="109728" marR="91440" marT="45720" marB="45720">
                    <a:solidFill>
                      <a:srgbClr val="FFFFFF"/>
                    </a:solidFill>
                  </a:tcPr>
                </a:tc>
              </a:tr>
              <a:tr h="868680">
                <a:tc>
                  <a:txBody>
                    <a:bodyPr wrap="square"/>
                    <a:lstStyle/>
                    <a:p>
                      <a:pPr algn="l">
                        <a:lnSpc>
                          <a:spcPct val="102000"/>
                        </a:lnSpc>
                      </a:pPr>
                      <a:r>
                        <a:rPr sz="1050" b="1">
                          <a:solidFill>
                            <a:srgbClr val="1F3A5F"/>
                          </a:solidFill>
                          <a:latin typeface="Calibri"/>
                        </a:rPr>
                        <a:t>B · Bug2 simplificado</a:t>
                      </a:r>
                    </a:p>
                  </a:txBody>
                  <a:tcPr anchor="ctr" marL="109728" marR="91440" marT="45720" marB="45720">
                    <a:solidFill>
                      <a:srgbClr val="ECE9E2"/>
                    </a:solidFill>
                  </a:tcPr>
                </a:tc>
                <a:tc>
                  <a:txBody>
                    <a:bodyPr wrap="square"/>
                    <a:lstStyle/>
                    <a:p>
                      <a:pPr algn="ctr">
                        <a:lnSpc>
                          <a:spcPct val="102000"/>
                        </a:lnSpc>
                      </a:pPr>
                      <a:r>
                        <a:rPr sz="1050" b="0">
                          <a:solidFill>
                            <a:srgbClr val="1F1F1F"/>
                          </a:solidFill>
                          <a:latin typeface="Calibri"/>
                        </a:rPr>
                        <a:t>No</a:t>
                      </a:r>
                    </a:p>
                  </a:txBody>
                  <a:tcPr anchor="ctr" marL="109728" marR="91440" marT="45720" marB="45720">
                    <a:solidFill>
                      <a:srgbClr val="ECE9E2"/>
                    </a:solidFill>
                  </a:tcPr>
                </a:tc>
                <a:tc>
                  <a:txBody>
                    <a:bodyPr wrap="square"/>
                    <a:lstStyle/>
                    <a:p>
                      <a:pPr algn="ctr">
                        <a:lnSpc>
                          <a:spcPct val="102000"/>
                        </a:lnSpc>
                      </a:pPr>
                      <a:r>
                        <a:rPr sz="1050" b="0">
                          <a:solidFill>
                            <a:srgbClr val="1F1F1F"/>
                          </a:solidFill>
                          <a:latin typeface="Calibri"/>
                        </a:rPr>
                        <a:t>Sí (estado y camino)</a:t>
                      </a:r>
                    </a:p>
                  </a:txBody>
                  <a:tcPr anchor="ctr" marL="109728" marR="91440" marT="45720" marB="45720">
                    <a:solidFill>
                      <a:srgbClr val="ECE9E2"/>
                    </a:solidFill>
                  </a:tcPr>
                </a:tc>
                <a:tc>
                  <a:txBody>
                    <a:bodyPr wrap="square"/>
                    <a:lstStyle/>
                    <a:p>
                      <a:pPr algn="ctr">
                        <a:lnSpc>
                          <a:spcPct val="102000"/>
                        </a:lnSpc>
                      </a:pPr>
                      <a:r>
                        <a:rPr sz="1050" b="0">
                          <a:solidFill>
                            <a:srgbClr val="1F1F1F"/>
                          </a:solidFill>
                          <a:latin typeface="Calibri"/>
                        </a:rPr>
                        <a:t>No garantizada (32 aquí)</a:t>
                      </a:r>
                    </a:p>
                  </a:txBody>
                  <a:tcPr anchor="ctr" marL="109728" marR="91440" marT="45720" marB="45720">
                    <a:solidFill>
                      <a:srgbClr val="ECE9E2"/>
                    </a:solidFill>
                  </a:tcPr>
                </a:tc>
                <a:tc>
                  <a:txBody>
                    <a:bodyPr wrap="square"/>
                    <a:lstStyle/>
                    <a:p>
                      <a:pPr algn="l">
                        <a:lnSpc>
                          <a:spcPct val="102000"/>
                        </a:lnSpc>
                      </a:pPr>
                      <a:r>
                        <a:rPr sz="1050" b="0">
                          <a:solidFill>
                            <a:srgbClr val="1F1F1F"/>
                          </a:solidFill>
                          <a:latin typeface="Calibri"/>
                        </a:rPr>
                        <a:t>32 pasos = cota de Manhattan</a:t>
                      </a:r>
                    </a:p>
                  </a:txBody>
                  <a:tcPr anchor="ctr" marL="109728" marR="91440" marT="45720" marB="45720">
                    <a:solidFill>
                      <a:srgbClr val="ECE9E2"/>
                    </a:solidFill>
                  </a:tcPr>
                </a:tc>
                <a:tc>
                  <a:txBody>
                    <a:bodyPr wrap="square"/>
                    <a:lstStyle/>
                    <a:p>
                      <a:pPr algn="l">
                        <a:lnSpc>
                          <a:spcPct val="102000"/>
                        </a:lnSpc>
                      </a:pPr>
                      <a:r>
                        <a:rPr sz="1050" b="0">
                          <a:solidFill>
                            <a:srgbClr val="1F1F1F"/>
                          </a:solidFill>
                          <a:latin typeface="Calibri"/>
                        </a:rPr>
                        <a:t>Cicla sin m-line: 0 % en el caso invertido</a:t>
                      </a:r>
                    </a:p>
                  </a:txBody>
                  <a:tcPr anchor="ctr" marL="109728" marR="91440" marT="45720" marB="45720">
                    <a:solidFill>
                      <a:srgbClr val="ECE9E2"/>
                    </a:solidFill>
                  </a:tcPr>
                </a:tc>
              </a:tr>
              <a:tr h="868680">
                <a:tc>
                  <a:txBody>
                    <a:bodyPr wrap="square"/>
                    <a:lstStyle/>
                    <a:p>
                      <a:pPr algn="l">
                        <a:lnSpc>
                          <a:spcPct val="102000"/>
                        </a:lnSpc>
                      </a:pPr>
                      <a:r>
                        <a:rPr sz="1050" b="1">
                          <a:solidFill>
                            <a:srgbClr val="1F3A5F"/>
                          </a:solidFill>
                          <a:latin typeface="Calibri"/>
                        </a:rPr>
                        <a:t>C · A*</a:t>
                      </a:r>
                    </a:p>
                  </a:txBody>
                  <a:tcPr anchor="ctr" marL="109728" marR="91440" marT="45720" marB="45720">
                    <a:solidFill>
                      <a:srgbClr val="FFFFFF"/>
                    </a:solidFill>
                  </a:tcPr>
                </a:tc>
                <a:tc>
                  <a:txBody>
                    <a:bodyPr wrap="square"/>
                    <a:lstStyle/>
                    <a:p>
                      <a:pPr algn="ctr">
                        <a:lnSpc>
                          <a:spcPct val="102000"/>
                        </a:lnSpc>
                      </a:pPr>
                      <a:r>
                        <a:rPr sz="1050" b="0">
                          <a:solidFill>
                            <a:srgbClr val="1F1F1F"/>
                          </a:solidFill>
                          <a:latin typeface="Calibri"/>
                        </a:rPr>
                        <a:t>Sí</a:t>
                      </a:r>
                    </a:p>
                  </a:txBody>
                  <a:tcPr anchor="ctr" marL="109728" marR="91440" marT="45720" marB="45720">
                    <a:solidFill>
                      <a:srgbClr val="FFFFFF"/>
                    </a:solidFill>
                  </a:tcPr>
                </a:tc>
                <a:tc>
                  <a:txBody>
                    <a:bodyPr wrap="square"/>
                    <a:lstStyle/>
                    <a:p>
                      <a:pPr algn="ctr">
                        <a:lnSpc>
                          <a:spcPct val="102000"/>
                        </a:lnSpc>
                      </a:pPr>
                      <a:r>
                        <a:rPr sz="1050" b="0">
                          <a:solidFill>
                            <a:srgbClr val="1F1F1F"/>
                          </a:solidFill>
                          <a:latin typeface="Calibri"/>
                        </a:rPr>
                        <a:t>Sí (cola y costos)</a:t>
                      </a:r>
                    </a:p>
                  </a:txBody>
                  <a:tcPr anchor="ctr" marL="109728" marR="91440" marT="45720" marB="45720">
                    <a:solidFill>
                      <a:srgbClr val="FFFFFF"/>
                    </a:solidFill>
                  </a:tcPr>
                </a:tc>
                <a:tc>
                  <a:txBody>
                    <a:bodyPr wrap="square"/>
                    <a:lstStyle/>
                    <a:p>
                      <a:pPr algn="ctr">
                        <a:lnSpc>
                          <a:spcPct val="102000"/>
                        </a:lnSpc>
                      </a:pPr>
                      <a:r>
                        <a:rPr sz="1050" b="0">
                          <a:solidFill>
                            <a:srgbClr val="1F1F1F"/>
                          </a:solidFill>
                          <a:latin typeface="Calibri"/>
                        </a:rPr>
                        <a:t>Sí, con h admisible</a:t>
                      </a:r>
                    </a:p>
                  </a:txBody>
                  <a:tcPr anchor="ctr" marL="109728" marR="91440" marT="45720" marB="45720">
                    <a:solidFill>
                      <a:srgbClr val="FFFFFF"/>
                    </a:solidFill>
                  </a:tcPr>
                </a:tc>
                <a:tc>
                  <a:txBody>
                    <a:bodyPr wrap="square"/>
                    <a:lstStyle/>
                    <a:p>
                      <a:pPr algn="l">
                        <a:lnSpc>
                          <a:spcPct val="102000"/>
                        </a:lnSpc>
                      </a:pPr>
                      <a:r>
                        <a:rPr sz="1050" b="0">
                          <a:solidFill>
                            <a:srgbClr val="1F1F1F"/>
                          </a:solidFill>
                          <a:latin typeface="Calibri"/>
                        </a:rPr>
                        <a:t>32 pasos · 305 expansiones (85 %)</a:t>
                      </a:r>
                    </a:p>
                  </a:txBody>
                  <a:tcPr anchor="ctr" marL="109728" marR="91440" marT="45720" marB="45720">
                    <a:solidFill>
                      <a:srgbClr val="FFFFFF"/>
                    </a:solidFill>
                  </a:tcPr>
                </a:tc>
                <a:tc>
                  <a:txBody>
                    <a:bodyPr wrap="square"/>
                    <a:lstStyle/>
                    <a:p>
                      <a:pPr algn="l">
                        <a:lnSpc>
                          <a:spcPct val="102000"/>
                        </a:lnSpc>
                      </a:pPr>
                      <a:r>
                        <a:rPr sz="1050" b="0">
                          <a:solidFill>
                            <a:srgbClr val="1F1F1F"/>
                          </a:solidFill>
                          <a:latin typeface="Calibri"/>
                        </a:rPr>
                        <a:t>Requiere mapa y una buena heurística</a:t>
                      </a:r>
                    </a:p>
                  </a:txBody>
                  <a:tcPr anchor="ctr" marL="109728" marR="91440" marT="45720" marB="45720">
                    <a:solidFill>
                      <a:srgbClr val="FFFFFF"/>
                    </a:solidFill>
                  </a:tcPr>
                </a:tc>
              </a:tr>
              <a:tr h="868680">
                <a:tc>
                  <a:txBody>
                    <a:bodyPr wrap="square"/>
                    <a:lstStyle/>
                    <a:p>
                      <a:pPr algn="l">
                        <a:lnSpc>
                          <a:spcPct val="102000"/>
                        </a:lnSpc>
                      </a:pPr>
                      <a:r>
                        <a:rPr sz="1050" b="1">
                          <a:solidFill>
                            <a:srgbClr val="1F3A5F"/>
                          </a:solidFill>
                          <a:latin typeface="Calibri"/>
                        </a:rPr>
                        <a:t>D · Distance transform</a:t>
                      </a:r>
                    </a:p>
                  </a:txBody>
                  <a:tcPr anchor="ctr" marL="109728" marR="91440" marT="45720" marB="45720">
                    <a:solidFill>
                      <a:srgbClr val="ECE9E2"/>
                    </a:solidFill>
                  </a:tcPr>
                </a:tc>
                <a:tc>
                  <a:txBody>
                    <a:bodyPr wrap="square"/>
                    <a:lstStyle/>
                    <a:p>
                      <a:pPr algn="ctr">
                        <a:lnSpc>
                          <a:spcPct val="102000"/>
                        </a:lnSpc>
                      </a:pPr>
                      <a:r>
                        <a:rPr sz="1050" b="0">
                          <a:solidFill>
                            <a:srgbClr val="1F1F1F"/>
                          </a:solidFill>
                          <a:latin typeface="Calibri"/>
                        </a:rPr>
                        <a:t>Sí</a:t>
                      </a:r>
                    </a:p>
                  </a:txBody>
                  <a:tcPr anchor="ctr" marL="109728" marR="91440" marT="45720" marB="45720">
                    <a:solidFill>
                      <a:srgbClr val="ECE9E2"/>
                    </a:solidFill>
                  </a:tcPr>
                </a:tc>
                <a:tc>
                  <a:txBody>
                    <a:bodyPr wrap="square"/>
                    <a:lstStyle/>
                    <a:p>
                      <a:pPr algn="ctr">
                        <a:lnSpc>
                          <a:spcPct val="102000"/>
                        </a:lnSpc>
                      </a:pPr>
                      <a:r>
                        <a:rPr sz="1050" b="0">
                          <a:solidFill>
                            <a:srgbClr val="1F1F1F"/>
                          </a:solidFill>
                          <a:latin typeface="Calibri"/>
                        </a:rPr>
                        <a:t>Sí (mapa de distancias)</a:t>
                      </a:r>
                    </a:p>
                  </a:txBody>
                  <a:tcPr anchor="ctr" marL="109728" marR="91440" marT="45720" marB="45720">
                    <a:solidFill>
                      <a:srgbClr val="ECE9E2"/>
                    </a:solidFill>
                  </a:tcPr>
                </a:tc>
                <a:tc>
                  <a:txBody>
                    <a:bodyPr wrap="square"/>
                    <a:lstStyle/>
                    <a:p>
                      <a:pPr algn="ctr">
                        <a:lnSpc>
                          <a:spcPct val="102000"/>
                        </a:lnSpc>
                      </a:pPr>
                      <a:r>
                        <a:rPr sz="1050" b="0">
                          <a:solidFill>
                            <a:srgbClr val="1F1F1F"/>
                          </a:solidFill>
                          <a:latin typeface="Calibri"/>
                        </a:rPr>
                        <a:t>Sí (Bellman, métrica L1)</a:t>
                      </a:r>
                    </a:p>
                  </a:txBody>
                  <a:tcPr anchor="ctr" marL="109728" marR="91440" marT="45720" marB="45720">
                    <a:solidFill>
                      <a:srgbClr val="ECE9E2"/>
                    </a:solidFill>
                  </a:tcPr>
                </a:tc>
                <a:tc>
                  <a:txBody>
                    <a:bodyPr wrap="square"/>
                    <a:lstStyle/>
                    <a:p>
                      <a:pPr algn="l">
                        <a:lnSpc>
                          <a:spcPct val="102000"/>
                        </a:lnSpc>
                      </a:pPr>
                      <a:r>
                        <a:rPr sz="1050" b="0">
                          <a:solidFill>
                            <a:srgbClr val="1F1F1F"/>
                          </a:solidFill>
                          <a:latin typeface="Calibri"/>
                        </a:rPr>
                        <a:t>32 pasos · dist[inicio] = 32</a:t>
                      </a:r>
                    </a:p>
                  </a:txBody>
                  <a:tcPr anchor="ctr" marL="109728" marR="91440" marT="45720" marB="45720">
                    <a:solidFill>
                      <a:srgbClr val="ECE9E2"/>
                    </a:solidFill>
                  </a:tcPr>
                </a:tc>
                <a:tc>
                  <a:txBody>
                    <a:bodyPr wrap="square"/>
                    <a:lstStyle/>
                    <a:p>
                      <a:pPr algn="l">
                        <a:lnSpc>
                          <a:spcPct val="102000"/>
                        </a:lnSpc>
                      </a:pPr>
                      <a:r>
                        <a:rPr sz="1050" b="0">
                          <a:solidFill>
                            <a:srgbClr val="1F1F1F"/>
                          </a:solidFill>
                          <a:latin typeface="Calibri"/>
                        </a:rPr>
                        <a:t>Cómputo previo; 100 barridos fijos</a:t>
                      </a:r>
                    </a:p>
                  </a:txBody>
                  <a:tcPr anchor="ctr" marL="109728" marR="91440" marT="45720" marB="45720">
                    <a:solidFill>
                      <a:srgbClr val="ECE9E2"/>
                    </a:solidFill>
                  </a:tcPr>
                </a:tc>
              </a:tr>
            </a:tbl>
          </a:graphicData>
        </a:graphic>
      </p:graphicFrame>
      <p:sp>
        <p:nvSpPr>
          <p:cNvPr id="8" name="TextBox 7"/>
          <p:cNvSpPr txBox="1"/>
          <p:nvPr/>
        </p:nvSpPr>
        <p:spPr>
          <a:xfrm>
            <a:off x="548640" y="5742432"/>
            <a:ext cx="11109960" cy="457200"/>
          </a:xfrm>
          <a:prstGeom prst="rect">
            <a:avLst/>
          </a:prstGeom>
          <a:noFill/>
        </p:spPr>
        <p:txBody>
          <a:bodyPr wrap="square" anchor="t" lIns="0" rIns="0" tIns="0" bIns="0">
            <a:noAutofit/>
          </a:bodyPr>
          <a:lstStyle/>
          <a:p>
            <a:pPr algn="l">
              <a:lnSpc>
                <a:spcPct val="115000"/>
              </a:lnSpc>
              <a:spcBef>
                <a:spcPts val="0"/>
              </a:spcBef>
              <a:spcAft>
                <a:spcPts val="0"/>
              </a:spcAft>
            </a:pPr>
            <a:r>
              <a:rPr sz="950" b="0" i="1">
                <a:solidFill>
                  <a:srgbClr val="7A7A7A"/>
                </a:solidFill>
                <a:latin typeface="Calibri"/>
              </a:rPr>
              <a:t>El empate en 32 pasos no mide calidad: mide que en este mapa la cota de Manhattan es alcanzable. La diferencia aparece cuando el entorno deja de favorecer la escalera monótona.</a:t>
            </a:r>
          </a:p>
        </p:txBody>
      </p:sp>
      <p:sp>
        <p:nvSpPr>
          <p:cNvPr id="9" name="TextBox 8"/>
          <p:cNvSpPr txBox="1"/>
          <p:nvPr/>
        </p:nvSpPr>
        <p:spPr>
          <a:xfrm>
            <a:off x="548640" y="6419088"/>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7A7A7A"/>
                </a:solidFill>
                <a:latin typeface="Calibri"/>
              </a:rPr>
              <a:t>Tabla 1 · Síntesis comparativa de las cuatro partes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1F3A5F"/>
          </a:solidFill>
          <a:ln>
            <a:noFill/>
          </a:ln>
          <a:effectLst/>
        </p:spPr>
        <p:txBody>
          <a:bodyPr rtlCol="0" anchor="ctr"/>
          <a:lstStyle/>
          <a:p>
            <a:pPr algn="ctr"/>
          </a:p>
        </p:txBody>
      </p:sp>
      <p:sp>
        <p:nvSpPr>
          <p:cNvPr id="4" name="Rectangle 3"/>
          <p:cNvSpPr/>
          <p:nvPr/>
        </p:nvSpPr>
        <p:spPr>
          <a:xfrm>
            <a:off x="0" y="201168"/>
            <a:ext cx="12191695" cy="14630"/>
          </a:xfrm>
          <a:prstGeom prst="rect">
            <a:avLst/>
          </a:prstGeom>
          <a:solidFill>
            <a:srgbClr val="ADABA8"/>
          </a:solidFill>
          <a:ln>
            <a:noFill/>
          </a:ln>
          <a:effectLst/>
        </p:spPr>
        <p:txBody>
          <a:bodyPr rtlCol="0" anchor="ctr"/>
          <a:lstStyle/>
          <a:p>
            <a:pPr algn="ctr"/>
          </a:p>
        </p:txBody>
      </p:sp>
      <p:sp>
        <p:nvSpPr>
          <p:cNvPr id="5" name="TextBox 4"/>
          <p:cNvSpPr txBox="1"/>
          <p:nvPr/>
        </p:nvSpPr>
        <p:spPr>
          <a:xfrm>
            <a:off x="548640" y="475488"/>
            <a:ext cx="11109960" cy="566928"/>
          </a:xfrm>
          <a:prstGeom prst="rect">
            <a:avLst/>
          </a:prstGeom>
          <a:noFill/>
        </p:spPr>
        <p:txBody>
          <a:bodyPr wrap="square" anchor="ctr" lIns="0" rIns="0" tIns="0" bIns="0">
            <a:noAutofit/>
          </a:bodyPr>
          <a:lstStyle/>
          <a:p>
            <a:pPr algn="l">
              <a:lnSpc>
                <a:spcPct val="100000"/>
              </a:lnSpc>
              <a:spcBef>
                <a:spcPts val="0"/>
              </a:spcBef>
              <a:spcAft>
                <a:spcPts val="0"/>
              </a:spcAft>
            </a:pPr>
            <a:r>
              <a:rPr sz="2500" b="1" i="0">
                <a:solidFill>
                  <a:srgbClr val="1F3A5F"/>
                </a:solidFill>
                <a:latin typeface="Calibri"/>
              </a:rPr>
              <a:t>Lo más importante de las cuatro partes</a:t>
            </a:r>
          </a:p>
        </p:txBody>
      </p:sp>
      <p:sp>
        <p:nvSpPr>
          <p:cNvPr id="6" name="TextBox 5"/>
          <p:cNvSpPr txBox="1"/>
          <p:nvPr/>
        </p:nvSpPr>
        <p:spPr>
          <a:xfrm>
            <a:off x="548640" y="1097280"/>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1100" b="0" i="0">
                <a:solidFill>
                  <a:srgbClr val="7A7A7A"/>
                </a:solidFill>
                <a:latin typeface="Calibri"/>
              </a:rPr>
              <a:t>Cuatro cifras que resumen el laboratorio</a:t>
            </a:r>
          </a:p>
        </p:txBody>
      </p:sp>
      <p:sp>
        <p:nvSpPr>
          <p:cNvPr id="7" name="Rectangle 6"/>
          <p:cNvSpPr/>
          <p:nvPr/>
        </p:nvSpPr>
        <p:spPr>
          <a:xfrm>
            <a:off x="548640" y="1517904"/>
            <a:ext cx="5349240" cy="1956816"/>
          </a:xfrm>
          <a:prstGeom prst="rect">
            <a:avLst/>
          </a:prstGeom>
          <a:solidFill>
            <a:srgbClr val="FFFFFF"/>
          </a:solidFill>
          <a:ln w="9525">
            <a:solidFill>
              <a:srgbClr val="D8D3C8"/>
            </a:solidFill>
          </a:ln>
          <a:effectLst/>
        </p:spPr>
        <p:txBody>
          <a:bodyPr rtlCol="0" anchor="ctr"/>
          <a:lstStyle/>
          <a:p>
            <a:pPr algn="ctr"/>
          </a:p>
        </p:txBody>
      </p:sp>
      <p:sp>
        <p:nvSpPr>
          <p:cNvPr id="8" name="Rectangle 7"/>
          <p:cNvSpPr/>
          <p:nvPr/>
        </p:nvSpPr>
        <p:spPr>
          <a:xfrm>
            <a:off x="548640" y="1517904"/>
            <a:ext cx="68580" cy="1956816"/>
          </a:xfrm>
          <a:prstGeom prst="rect">
            <a:avLst/>
          </a:prstGeom>
          <a:solidFill>
            <a:srgbClr val="1F3A5F"/>
          </a:solidFill>
          <a:ln>
            <a:noFill/>
          </a:ln>
          <a:effectLst/>
        </p:spPr>
        <p:txBody>
          <a:bodyPr rtlCol="0" anchor="ctr"/>
          <a:lstStyle/>
          <a:p>
            <a:pPr algn="ctr"/>
          </a:p>
        </p:txBody>
      </p:sp>
      <p:sp>
        <p:nvSpPr>
          <p:cNvPr id="9" name="TextBox 8"/>
          <p:cNvSpPr txBox="1"/>
          <p:nvPr/>
        </p:nvSpPr>
        <p:spPr>
          <a:xfrm>
            <a:off x="822959" y="1627631"/>
            <a:ext cx="2194560" cy="566928"/>
          </a:xfrm>
          <a:prstGeom prst="rect">
            <a:avLst/>
          </a:prstGeom>
          <a:noFill/>
        </p:spPr>
        <p:txBody>
          <a:bodyPr wrap="square" anchor="ctr" lIns="0" rIns="0" tIns="0" bIns="0">
            <a:noAutofit/>
          </a:bodyPr>
          <a:lstStyle/>
          <a:p>
            <a:pPr algn="l">
              <a:lnSpc>
                <a:spcPct val="100000"/>
              </a:lnSpc>
              <a:spcBef>
                <a:spcPts val="0"/>
              </a:spcBef>
              <a:spcAft>
                <a:spcPts val="0"/>
              </a:spcAft>
            </a:pPr>
            <a:r>
              <a:rPr sz="3000" b="1" i="0">
                <a:solidFill>
                  <a:srgbClr val="1F3A5F"/>
                </a:solidFill>
                <a:latin typeface="Calibri"/>
              </a:rPr>
              <a:t>9.57</a:t>
            </a:r>
          </a:p>
        </p:txBody>
      </p:sp>
      <p:sp>
        <p:nvSpPr>
          <p:cNvPr id="10" name="TextBox 9"/>
          <p:cNvSpPr txBox="1"/>
          <p:nvPr/>
        </p:nvSpPr>
        <p:spPr>
          <a:xfrm>
            <a:off x="822959" y="2212848"/>
            <a:ext cx="484632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1" i="0" spc="60">
                <a:solidFill>
                  <a:srgbClr val="7A7A7A"/>
                </a:solidFill>
                <a:latin typeface="Calibri"/>
              </a:rPr>
              <a:t>celdas — distancia mínima del Braitenberg</a:t>
            </a:r>
          </a:p>
        </p:txBody>
      </p:sp>
      <p:sp>
        <p:nvSpPr>
          <p:cNvPr id="11" name="TextBox 10"/>
          <p:cNvSpPr txBox="1"/>
          <p:nvPr/>
        </p:nvSpPr>
        <p:spPr>
          <a:xfrm>
            <a:off x="822959" y="2505456"/>
            <a:ext cx="4846320" cy="868680"/>
          </a:xfrm>
          <a:prstGeom prst="rect">
            <a:avLst/>
          </a:prstGeom>
          <a:noFill/>
        </p:spPr>
        <p:txBody>
          <a:bodyPr wrap="square" anchor="t" lIns="0" rIns="0" tIns="0" bIns="0">
            <a:noAutofit/>
          </a:bodyPr>
          <a:lstStyle/>
          <a:p>
            <a:pPr algn="l">
              <a:lnSpc>
                <a:spcPct val="110000"/>
              </a:lnSpc>
              <a:spcBef>
                <a:spcPts val="0"/>
              </a:spcBef>
              <a:spcAft>
                <a:spcPts val="0"/>
              </a:spcAft>
            </a:pPr>
            <a:r>
              <a:rPr sz="1250" b="0" i="0">
                <a:solidFill>
                  <a:srgbClr val="1F1F1F"/>
                </a:solidFill>
                <a:latin typeface="Calibri"/>
              </a:rPr>
              <a:t>No converge, y no es por falta de iteraciones: con T = 2000 la distancia final vuelve a 117.95. El fallo está en la ley, que no frena; la del libro sí lo hace.</a:t>
            </a:r>
          </a:p>
        </p:txBody>
      </p:sp>
      <p:sp>
        <p:nvSpPr>
          <p:cNvPr id="12" name="Rectangle 11"/>
          <p:cNvSpPr/>
          <p:nvPr/>
        </p:nvSpPr>
        <p:spPr>
          <a:xfrm>
            <a:off x="6309360" y="1517904"/>
            <a:ext cx="5349240" cy="1956816"/>
          </a:xfrm>
          <a:prstGeom prst="rect">
            <a:avLst/>
          </a:prstGeom>
          <a:solidFill>
            <a:srgbClr val="FFFFFF"/>
          </a:solidFill>
          <a:ln w="9525">
            <a:solidFill>
              <a:srgbClr val="D8D3C8"/>
            </a:solidFill>
          </a:ln>
          <a:effectLst/>
        </p:spPr>
        <p:txBody>
          <a:bodyPr rtlCol="0" anchor="ctr"/>
          <a:lstStyle/>
          <a:p>
            <a:pPr algn="ctr"/>
          </a:p>
        </p:txBody>
      </p:sp>
      <p:sp>
        <p:nvSpPr>
          <p:cNvPr id="13" name="Rectangle 12"/>
          <p:cNvSpPr/>
          <p:nvPr/>
        </p:nvSpPr>
        <p:spPr>
          <a:xfrm>
            <a:off x="6309360" y="1517904"/>
            <a:ext cx="68580" cy="1956816"/>
          </a:xfrm>
          <a:prstGeom prst="rect">
            <a:avLst/>
          </a:prstGeom>
          <a:solidFill>
            <a:srgbClr val="1F3A5F"/>
          </a:solidFill>
          <a:ln>
            <a:noFill/>
          </a:ln>
          <a:effectLst/>
        </p:spPr>
        <p:txBody>
          <a:bodyPr rtlCol="0" anchor="ctr"/>
          <a:lstStyle/>
          <a:p>
            <a:pPr algn="ctr"/>
          </a:p>
        </p:txBody>
      </p:sp>
      <p:sp>
        <p:nvSpPr>
          <p:cNvPr id="14" name="TextBox 13"/>
          <p:cNvSpPr txBox="1"/>
          <p:nvPr/>
        </p:nvSpPr>
        <p:spPr>
          <a:xfrm>
            <a:off x="6583680" y="1627631"/>
            <a:ext cx="2194560" cy="566928"/>
          </a:xfrm>
          <a:prstGeom prst="rect">
            <a:avLst/>
          </a:prstGeom>
          <a:noFill/>
        </p:spPr>
        <p:txBody>
          <a:bodyPr wrap="square" anchor="ctr" lIns="0" rIns="0" tIns="0" bIns="0">
            <a:noAutofit/>
          </a:bodyPr>
          <a:lstStyle/>
          <a:p>
            <a:pPr algn="l">
              <a:lnSpc>
                <a:spcPct val="100000"/>
              </a:lnSpc>
              <a:spcBef>
                <a:spcPts val="0"/>
              </a:spcBef>
              <a:spcAft>
                <a:spcPts val="0"/>
              </a:spcAft>
            </a:pPr>
            <a:r>
              <a:rPr sz="3000" b="1" i="0">
                <a:solidFill>
                  <a:srgbClr val="1F3A5F"/>
                </a:solidFill>
                <a:latin typeface="Calibri"/>
              </a:rPr>
              <a:t>32 = 32</a:t>
            </a:r>
          </a:p>
        </p:txBody>
      </p:sp>
      <p:sp>
        <p:nvSpPr>
          <p:cNvPr id="15" name="TextBox 14"/>
          <p:cNvSpPr txBox="1"/>
          <p:nvPr/>
        </p:nvSpPr>
        <p:spPr>
          <a:xfrm>
            <a:off x="6583680" y="2212848"/>
            <a:ext cx="484632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1" i="0" spc="60">
                <a:solidFill>
                  <a:srgbClr val="7A7A7A"/>
                </a:solidFill>
                <a:latin typeface="Calibri"/>
              </a:rPr>
              <a:t>pasos — Bug2 y los métodos óptimos</a:t>
            </a:r>
          </a:p>
        </p:txBody>
      </p:sp>
      <p:sp>
        <p:nvSpPr>
          <p:cNvPr id="16" name="TextBox 15"/>
          <p:cNvSpPr txBox="1"/>
          <p:nvPr/>
        </p:nvSpPr>
        <p:spPr>
          <a:xfrm>
            <a:off x="6583680" y="2505456"/>
            <a:ext cx="4846320" cy="868680"/>
          </a:xfrm>
          <a:prstGeom prst="rect">
            <a:avLst/>
          </a:prstGeom>
          <a:noFill/>
        </p:spPr>
        <p:txBody>
          <a:bodyPr wrap="square" anchor="t" lIns="0" rIns="0" tIns="0" bIns="0">
            <a:noAutofit/>
          </a:bodyPr>
          <a:lstStyle/>
          <a:p>
            <a:pPr algn="l">
              <a:lnSpc>
                <a:spcPct val="110000"/>
              </a:lnSpc>
              <a:spcBef>
                <a:spcPts val="0"/>
              </a:spcBef>
              <a:spcAft>
                <a:spcPts val="0"/>
              </a:spcAft>
            </a:pPr>
            <a:r>
              <a:rPr sz="1250" b="0" i="0">
                <a:solidFill>
                  <a:srgbClr val="1F1F1F"/>
                </a:solidFill>
                <a:latin typeface="Calibri"/>
              </a:rPr>
              <a:t>El empate es geometría, no garantía: 32 es la cota de Manhattan y el obstáculo no obliga a rodeo. Con inicio y objetivo invertidos, Bug2 cicla.</a:t>
            </a:r>
          </a:p>
        </p:txBody>
      </p:sp>
      <p:sp>
        <p:nvSpPr>
          <p:cNvPr id="17" name="Rectangle 16"/>
          <p:cNvSpPr/>
          <p:nvPr/>
        </p:nvSpPr>
        <p:spPr>
          <a:xfrm>
            <a:off x="548640" y="3675887"/>
            <a:ext cx="5349240" cy="1956816"/>
          </a:xfrm>
          <a:prstGeom prst="rect">
            <a:avLst/>
          </a:prstGeom>
          <a:solidFill>
            <a:srgbClr val="FFFFFF"/>
          </a:solidFill>
          <a:ln w="9525">
            <a:solidFill>
              <a:srgbClr val="D8D3C8"/>
            </a:solidFill>
          </a:ln>
          <a:effectLst/>
        </p:spPr>
        <p:txBody>
          <a:bodyPr rtlCol="0" anchor="ctr"/>
          <a:lstStyle/>
          <a:p>
            <a:pPr algn="ctr"/>
          </a:p>
        </p:txBody>
      </p:sp>
      <p:sp>
        <p:nvSpPr>
          <p:cNvPr id="18" name="Rectangle 17"/>
          <p:cNvSpPr/>
          <p:nvPr/>
        </p:nvSpPr>
        <p:spPr>
          <a:xfrm>
            <a:off x="548640" y="3675887"/>
            <a:ext cx="68580" cy="1956816"/>
          </a:xfrm>
          <a:prstGeom prst="rect">
            <a:avLst/>
          </a:prstGeom>
          <a:solidFill>
            <a:srgbClr val="1F3A5F"/>
          </a:solidFill>
          <a:ln>
            <a:noFill/>
          </a:ln>
          <a:effectLst/>
        </p:spPr>
        <p:txBody>
          <a:bodyPr rtlCol="0" anchor="ctr"/>
          <a:lstStyle/>
          <a:p>
            <a:pPr algn="ctr"/>
          </a:p>
        </p:txBody>
      </p:sp>
      <p:sp>
        <p:nvSpPr>
          <p:cNvPr id="19" name="TextBox 18"/>
          <p:cNvSpPr txBox="1"/>
          <p:nvPr/>
        </p:nvSpPr>
        <p:spPr>
          <a:xfrm>
            <a:off x="822959" y="3785615"/>
            <a:ext cx="2194560" cy="566928"/>
          </a:xfrm>
          <a:prstGeom prst="rect">
            <a:avLst/>
          </a:prstGeom>
          <a:noFill/>
        </p:spPr>
        <p:txBody>
          <a:bodyPr wrap="square" anchor="ctr" lIns="0" rIns="0" tIns="0" bIns="0">
            <a:noAutofit/>
          </a:bodyPr>
          <a:lstStyle/>
          <a:p>
            <a:pPr algn="l">
              <a:lnSpc>
                <a:spcPct val="100000"/>
              </a:lnSpc>
              <a:spcBef>
                <a:spcPts val="0"/>
              </a:spcBef>
              <a:spcAft>
                <a:spcPts val="0"/>
              </a:spcAft>
            </a:pPr>
            <a:r>
              <a:rPr sz="3000" b="1" i="0">
                <a:solidFill>
                  <a:srgbClr val="1F3A5F"/>
                </a:solidFill>
                <a:latin typeface="Calibri"/>
              </a:rPr>
              <a:t>85 %</a:t>
            </a:r>
          </a:p>
        </p:txBody>
      </p:sp>
      <p:sp>
        <p:nvSpPr>
          <p:cNvPr id="20" name="TextBox 19"/>
          <p:cNvSpPr txBox="1"/>
          <p:nvPr/>
        </p:nvSpPr>
        <p:spPr>
          <a:xfrm>
            <a:off x="822959" y="4370831"/>
            <a:ext cx="484632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1" i="0" spc="60">
                <a:solidFill>
                  <a:srgbClr val="7A7A7A"/>
                </a:solidFill>
                <a:latin typeface="Calibri"/>
              </a:rPr>
              <a:t>de las celdas libres expandidas por A*</a:t>
            </a:r>
          </a:p>
        </p:txBody>
      </p:sp>
      <p:sp>
        <p:nvSpPr>
          <p:cNvPr id="21" name="TextBox 20"/>
          <p:cNvSpPr txBox="1"/>
          <p:nvPr/>
        </p:nvSpPr>
        <p:spPr>
          <a:xfrm>
            <a:off x="822959" y="4663440"/>
            <a:ext cx="4846320" cy="868680"/>
          </a:xfrm>
          <a:prstGeom prst="rect">
            <a:avLst/>
          </a:prstGeom>
          <a:noFill/>
        </p:spPr>
        <p:txBody>
          <a:bodyPr wrap="square" anchor="t" lIns="0" rIns="0" tIns="0" bIns="0">
            <a:noAutofit/>
          </a:bodyPr>
          <a:lstStyle/>
          <a:p>
            <a:pPr algn="l">
              <a:lnSpc>
                <a:spcPct val="110000"/>
              </a:lnSpc>
              <a:spcBef>
                <a:spcPts val="0"/>
              </a:spcBef>
              <a:spcAft>
                <a:spcPts val="0"/>
              </a:spcAft>
            </a:pPr>
            <a:r>
              <a:rPr sz="1250" b="0" i="0">
                <a:solidFill>
                  <a:srgbClr val="1F1F1F"/>
                </a:solidFill>
                <a:latin typeface="Calibri"/>
              </a:rPr>
              <a:t>305 de 360. La heurística euclidiana es admisible pero floja en 4-conectividad: una Manhattan expandiría menos sin perder optimalidad.</a:t>
            </a:r>
          </a:p>
        </p:txBody>
      </p:sp>
      <p:sp>
        <p:nvSpPr>
          <p:cNvPr id="22" name="Rectangle 21"/>
          <p:cNvSpPr/>
          <p:nvPr/>
        </p:nvSpPr>
        <p:spPr>
          <a:xfrm>
            <a:off x="6309360" y="3675887"/>
            <a:ext cx="5349240" cy="1956816"/>
          </a:xfrm>
          <a:prstGeom prst="rect">
            <a:avLst/>
          </a:prstGeom>
          <a:solidFill>
            <a:srgbClr val="FFFFFF"/>
          </a:solidFill>
          <a:ln w="9525">
            <a:solidFill>
              <a:srgbClr val="D8D3C8"/>
            </a:solidFill>
          </a:ln>
          <a:effectLst/>
        </p:spPr>
        <p:txBody>
          <a:bodyPr rtlCol="0" anchor="ctr"/>
          <a:lstStyle/>
          <a:p>
            <a:pPr algn="ctr"/>
          </a:p>
        </p:txBody>
      </p:sp>
      <p:sp>
        <p:nvSpPr>
          <p:cNvPr id="23" name="Rectangle 22"/>
          <p:cNvSpPr/>
          <p:nvPr/>
        </p:nvSpPr>
        <p:spPr>
          <a:xfrm>
            <a:off x="6309360" y="3675887"/>
            <a:ext cx="68580" cy="1956816"/>
          </a:xfrm>
          <a:prstGeom prst="rect">
            <a:avLst/>
          </a:prstGeom>
          <a:solidFill>
            <a:srgbClr val="1F3A5F"/>
          </a:solidFill>
          <a:ln>
            <a:noFill/>
          </a:ln>
          <a:effectLst/>
        </p:spPr>
        <p:txBody>
          <a:bodyPr rtlCol="0" anchor="ctr"/>
          <a:lstStyle/>
          <a:p>
            <a:pPr algn="ctr"/>
          </a:p>
        </p:txBody>
      </p:sp>
      <p:sp>
        <p:nvSpPr>
          <p:cNvPr id="24" name="TextBox 23"/>
          <p:cNvSpPr txBox="1"/>
          <p:nvPr/>
        </p:nvSpPr>
        <p:spPr>
          <a:xfrm>
            <a:off x="6583680" y="3785615"/>
            <a:ext cx="2194560" cy="566928"/>
          </a:xfrm>
          <a:prstGeom prst="rect">
            <a:avLst/>
          </a:prstGeom>
          <a:noFill/>
        </p:spPr>
        <p:txBody>
          <a:bodyPr wrap="square" anchor="ctr" lIns="0" rIns="0" tIns="0" bIns="0">
            <a:noAutofit/>
          </a:bodyPr>
          <a:lstStyle/>
          <a:p>
            <a:pPr algn="l">
              <a:lnSpc>
                <a:spcPct val="100000"/>
              </a:lnSpc>
              <a:spcBef>
                <a:spcPts val="0"/>
              </a:spcBef>
              <a:spcAft>
                <a:spcPts val="0"/>
              </a:spcAft>
            </a:pPr>
            <a:r>
              <a:rPr sz="3000" b="1" i="0">
                <a:solidFill>
                  <a:srgbClr val="1F3A5F"/>
                </a:solidFill>
                <a:latin typeface="Calibri"/>
              </a:rPr>
              <a:t>571</a:t>
            </a:r>
          </a:p>
        </p:txBody>
      </p:sp>
      <p:sp>
        <p:nvSpPr>
          <p:cNvPr id="25" name="TextBox 24"/>
          <p:cNvSpPr txBox="1"/>
          <p:nvPr/>
        </p:nvSpPr>
        <p:spPr>
          <a:xfrm>
            <a:off x="6583680" y="4370831"/>
            <a:ext cx="484632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1" i="0" spc="60">
                <a:solidFill>
                  <a:srgbClr val="7A7A7A"/>
                </a:solidFill>
                <a:latin typeface="Calibri"/>
              </a:rPr>
              <a:t>barridos necesita la casa del libro</a:t>
            </a:r>
          </a:p>
        </p:txBody>
      </p:sp>
      <p:sp>
        <p:nvSpPr>
          <p:cNvPr id="26" name="TextBox 25"/>
          <p:cNvSpPr txBox="1"/>
          <p:nvPr/>
        </p:nvSpPr>
        <p:spPr>
          <a:xfrm>
            <a:off x="6583680" y="4663440"/>
            <a:ext cx="4846320" cy="868680"/>
          </a:xfrm>
          <a:prstGeom prst="rect">
            <a:avLst/>
          </a:prstGeom>
          <a:noFill/>
        </p:spPr>
        <p:txBody>
          <a:bodyPr wrap="square" anchor="t" lIns="0" rIns="0" tIns="0" bIns="0">
            <a:noAutofit/>
          </a:bodyPr>
          <a:lstStyle/>
          <a:p>
            <a:pPr algn="l">
              <a:lnSpc>
                <a:spcPct val="110000"/>
              </a:lnSpc>
              <a:spcBef>
                <a:spcPts val="0"/>
              </a:spcBef>
              <a:spcAft>
                <a:spcPts val="0"/>
              </a:spcAft>
            </a:pPr>
            <a:r>
              <a:rPr sz="1250" b="0" i="0">
                <a:solidFill>
                  <a:srgbClr val="1F1F1F"/>
                </a:solidFill>
                <a:latin typeface="Calibri"/>
              </a:rPr>
              <a:t>El límite fijo de 100 barridos no escala: el mapa 20 × 20 se estabiliza en 5, pero la casa necesita 571. Hay que detectar la convergencia.</a:t>
            </a:r>
          </a:p>
        </p:txBody>
      </p:sp>
      <p:sp>
        <p:nvSpPr>
          <p:cNvPr id="27" name="Rectangle 26"/>
          <p:cNvSpPr/>
          <p:nvPr/>
        </p:nvSpPr>
        <p:spPr>
          <a:xfrm>
            <a:off x="548640" y="5833872"/>
            <a:ext cx="11109960" cy="457200"/>
          </a:xfrm>
          <a:prstGeom prst="rect">
            <a:avLst/>
          </a:prstGeom>
          <a:solidFill>
            <a:srgbClr val="1F3A5F"/>
          </a:solidFill>
          <a:ln>
            <a:noFill/>
          </a:ln>
          <a:effectLst/>
        </p:spPr>
        <p:txBody>
          <a:bodyPr rtlCol="0" anchor="ctr"/>
          <a:lstStyle/>
          <a:p>
            <a:pPr algn="ctr"/>
          </a:p>
        </p:txBody>
      </p:sp>
      <p:sp>
        <p:nvSpPr>
          <p:cNvPr id="28" name="TextBox 27"/>
          <p:cNvSpPr txBox="1"/>
          <p:nvPr/>
        </p:nvSpPr>
        <p:spPr>
          <a:xfrm>
            <a:off x="777240" y="5833872"/>
            <a:ext cx="10698480" cy="457200"/>
          </a:xfrm>
          <a:prstGeom prst="rect">
            <a:avLst/>
          </a:prstGeom>
          <a:noFill/>
        </p:spPr>
        <p:txBody>
          <a:bodyPr wrap="square" anchor="ctr" lIns="0" rIns="0" tIns="0" bIns="0">
            <a:noAutofit/>
          </a:bodyPr>
          <a:lstStyle/>
          <a:p>
            <a:pPr algn="l">
              <a:lnSpc>
                <a:spcPct val="100000"/>
              </a:lnSpc>
              <a:spcBef>
                <a:spcPts val="0"/>
              </a:spcBef>
              <a:spcAft>
                <a:spcPts val="0"/>
              </a:spcAft>
            </a:pPr>
            <a:r>
              <a:rPr sz="1150" b="1" i="0">
                <a:solidFill>
                  <a:srgbClr val="FFFFFF"/>
                </a:solidFill>
                <a:latin typeface="Calibri"/>
              </a:rPr>
              <a:t>Más información por adelantado da optimalidad; menos información da simplicidad, y el riesgo de ciclar o de no llegar.</a:t>
            </a:r>
          </a:p>
        </p:txBody>
      </p:sp>
      <p:sp>
        <p:nvSpPr>
          <p:cNvPr id="29" name="TextBox 28"/>
          <p:cNvSpPr txBox="1"/>
          <p:nvPr/>
        </p:nvSpPr>
        <p:spPr>
          <a:xfrm>
            <a:off x="548640" y="6419088"/>
            <a:ext cx="11109960" cy="274320"/>
          </a:xfrm>
          <a:prstGeom prst="rect">
            <a:avLst/>
          </a:prstGeom>
          <a:noFill/>
        </p:spPr>
        <p:txBody>
          <a:bodyPr wrap="square" anchor="t" lIns="0" rIns="0" tIns="0" bIns="0">
            <a:noAutofit/>
          </a:bodyPr>
          <a:lstStyle/>
          <a:p>
            <a:pPr algn="l">
              <a:lnSpc>
                <a:spcPct val="100000"/>
              </a:lnSpc>
              <a:spcBef>
                <a:spcPts val="0"/>
              </a:spcBef>
              <a:spcAft>
                <a:spcPts val="0"/>
              </a:spcAft>
            </a:pPr>
            <a:r>
              <a:rPr sz="850" b="0" i="0">
                <a:solidFill>
                  <a:srgbClr val="7A7A7A"/>
                </a:solidFill>
                <a:latin typeface="Calibri"/>
              </a:rPr>
              <a:t>Cifras tomadas de Laboratorio/resultados/metricas.csv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txBody>
          <a:bodyPr rtlCol="0" anchor="ctr"/>
          <a:lstStyle/>
          <a:p>
            <a:pPr algn="ctr"/>
          </a:p>
        </p:txBody>
      </p:sp>
      <p:sp>
        <p:nvSpPr>
          <p:cNvPr id="3" name="TextBox 2"/>
          <p:cNvSpPr txBox="1"/>
          <p:nvPr/>
        </p:nvSpPr>
        <p:spPr>
          <a:xfrm>
            <a:off x="914400" y="1572768"/>
            <a:ext cx="10332720" cy="274320"/>
          </a:xfrm>
          <a:prstGeom prst="rect">
            <a:avLst/>
          </a:prstGeom>
          <a:noFill/>
        </p:spPr>
        <p:txBody>
          <a:bodyPr wrap="square" anchor="t" lIns="0" rIns="0" tIns="0" bIns="0">
            <a:noAutofit/>
          </a:bodyPr>
          <a:lstStyle/>
          <a:p>
            <a:pPr algn="l">
              <a:lnSpc>
                <a:spcPct val="100000"/>
              </a:lnSpc>
              <a:spcBef>
                <a:spcPts val="0"/>
              </a:spcBef>
              <a:spcAft>
                <a:spcPts val="0"/>
              </a:spcAft>
            </a:pPr>
            <a:r>
              <a:rPr sz="1100" b="1" i="0" spc="160">
                <a:solidFill>
                  <a:srgbClr val="C8D3E6"/>
                </a:solidFill>
                <a:latin typeface="Calibri"/>
              </a:rPr>
              <a:t>CONCLUSIÓN GENERAL</a:t>
            </a:r>
          </a:p>
        </p:txBody>
      </p:sp>
      <p:sp>
        <p:nvSpPr>
          <p:cNvPr id="4" name="Rectangle 3"/>
          <p:cNvSpPr/>
          <p:nvPr/>
        </p:nvSpPr>
        <p:spPr>
          <a:xfrm>
            <a:off x="914400" y="1883664"/>
            <a:ext cx="1143000" cy="41148"/>
          </a:xfrm>
          <a:prstGeom prst="rect">
            <a:avLst/>
          </a:prstGeom>
          <a:solidFill>
            <a:srgbClr val="C8D3E6"/>
          </a:solidFill>
          <a:ln>
            <a:noFill/>
          </a:ln>
          <a:effectLst/>
        </p:spPr>
        <p:txBody>
          <a:bodyPr rtlCol="0" anchor="ctr"/>
          <a:lstStyle/>
          <a:p>
            <a:pPr algn="ctr"/>
          </a:p>
        </p:txBody>
      </p:sp>
      <p:sp>
        <p:nvSpPr>
          <p:cNvPr id="5" name="TextBox 4"/>
          <p:cNvSpPr txBox="1"/>
          <p:nvPr/>
        </p:nvSpPr>
        <p:spPr>
          <a:xfrm>
            <a:off x="914400" y="2157984"/>
            <a:ext cx="10058400" cy="155448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FFFFFF"/>
                </a:solidFill>
                <a:latin typeface="Calibri"/>
              </a:rPr>
              <a:t>Cada paso de A a D añade información</a:t>
            </a:r>
          </a:p>
          <a:p>
            <a:pPr algn="l">
              <a:lnSpc>
                <a:spcPct val="105000"/>
              </a:lnSpc>
              <a:spcBef>
                <a:spcPts val="0"/>
              </a:spcBef>
              <a:spcAft>
                <a:spcPts val="0"/>
              </a:spcAft>
            </a:pPr>
            <a:r>
              <a:rPr sz="3200" b="1" i="0">
                <a:solidFill>
                  <a:srgbClr val="FFFFFF"/>
                </a:solidFill>
                <a:latin typeface="Calibri"/>
              </a:rPr>
              <a:t>y memoria — y lo paga con cómputo.</a:t>
            </a:r>
          </a:p>
        </p:txBody>
      </p:sp>
      <p:sp>
        <p:nvSpPr>
          <p:cNvPr id="6" name="Chevron 5"/>
          <p:cNvSpPr/>
          <p:nvPr/>
        </p:nvSpPr>
        <p:spPr>
          <a:xfrm>
            <a:off x="914400" y="4114800"/>
            <a:ext cx="2487168" cy="941832"/>
          </a:xfrm>
          <a:prstGeom prst="chevron">
            <a:avLst/>
          </a:prstGeom>
          <a:solidFill>
            <a:srgbClr val="6E88A8"/>
          </a:solidFill>
          <a:ln>
            <a:noFill/>
          </a:ln>
          <a:effectLst/>
        </p:spPr>
        <p:txBody>
          <a:bodyPr rtlCol="0" anchor="ctr" wrap="square" lIns="310896" rIns="109728" tIns="0" bIns="0"/>
          <a:lstStyle/>
          <a:p>
            <a:pPr algn="ctr"/>
            <a:r>
              <a:rPr sz="1150" b="1">
                <a:solidFill>
                  <a:srgbClr val="FFFFFF"/>
                </a:solidFill>
                <a:latin typeface="Calibri"/>
              </a:rPr>
              <a:t>A · Sensores</a:t>
            </a:r>
          </a:p>
          <a:p>
            <a:pPr algn="ctr"/>
            <a:r>
              <a:rPr sz="950">
                <a:solidFill>
                  <a:srgbClr val="C8D3E6"/>
                </a:solidFill>
                <a:latin typeface="Calibri"/>
              </a:rPr>
              <a:t>sin mapa</a:t>
            </a:r>
          </a:p>
        </p:txBody>
      </p:sp>
      <p:sp>
        <p:nvSpPr>
          <p:cNvPr id="7" name="Chevron 6"/>
          <p:cNvSpPr/>
          <p:nvPr/>
        </p:nvSpPr>
        <p:spPr>
          <a:xfrm>
            <a:off x="3538728" y="4114800"/>
            <a:ext cx="2487168" cy="941832"/>
          </a:xfrm>
          <a:prstGeom prst="chevron">
            <a:avLst/>
          </a:prstGeom>
          <a:solidFill>
            <a:srgbClr val="557095"/>
          </a:solidFill>
          <a:ln>
            <a:noFill/>
          </a:ln>
          <a:effectLst/>
        </p:spPr>
        <p:txBody>
          <a:bodyPr rtlCol="0" anchor="ctr" wrap="square" lIns="310896" rIns="109728" tIns="0" bIns="0"/>
          <a:lstStyle/>
          <a:p>
            <a:pPr algn="ctr"/>
            <a:r>
              <a:rPr sz="1150" b="1">
                <a:solidFill>
                  <a:srgbClr val="FFFFFF"/>
                </a:solidFill>
                <a:latin typeface="Calibri"/>
              </a:rPr>
              <a:t>B · Estado</a:t>
            </a:r>
          </a:p>
          <a:p>
            <a:pPr algn="ctr"/>
            <a:r>
              <a:rPr sz="950">
                <a:solidFill>
                  <a:srgbClr val="C8D3E6"/>
                </a:solidFill>
                <a:latin typeface="Calibri"/>
              </a:rPr>
              <a:t>evasión local</a:t>
            </a:r>
          </a:p>
        </p:txBody>
      </p:sp>
      <p:sp>
        <p:nvSpPr>
          <p:cNvPr id="8" name="Chevron 7"/>
          <p:cNvSpPr/>
          <p:nvPr/>
        </p:nvSpPr>
        <p:spPr>
          <a:xfrm>
            <a:off x="6163056" y="4114800"/>
            <a:ext cx="2487168" cy="941832"/>
          </a:xfrm>
          <a:prstGeom prst="chevron">
            <a:avLst/>
          </a:prstGeom>
          <a:solidFill>
            <a:srgbClr val="38537B"/>
          </a:solidFill>
          <a:ln>
            <a:noFill/>
          </a:ln>
          <a:effectLst/>
        </p:spPr>
        <p:txBody>
          <a:bodyPr rtlCol="0" anchor="ctr" wrap="square" lIns="310896" rIns="109728" tIns="0" bIns="0"/>
          <a:lstStyle/>
          <a:p>
            <a:pPr algn="ctr"/>
            <a:r>
              <a:rPr sz="1150" b="1">
                <a:solidFill>
                  <a:srgbClr val="FFFFFF"/>
                </a:solidFill>
                <a:latin typeface="Calibri"/>
              </a:rPr>
              <a:t>C · Mapa</a:t>
            </a:r>
          </a:p>
          <a:p>
            <a:pPr algn="ctr"/>
            <a:r>
              <a:rPr sz="950">
                <a:solidFill>
                  <a:srgbClr val="C8D3E6"/>
                </a:solidFill>
                <a:latin typeface="Calibri"/>
              </a:rPr>
              <a:t>búsqueda con h</a:t>
            </a:r>
          </a:p>
        </p:txBody>
      </p:sp>
      <p:sp>
        <p:nvSpPr>
          <p:cNvPr id="9" name="Chevron 8"/>
          <p:cNvSpPr/>
          <p:nvPr/>
        </p:nvSpPr>
        <p:spPr>
          <a:xfrm>
            <a:off x="8787384" y="4114800"/>
            <a:ext cx="2487168" cy="941832"/>
          </a:xfrm>
          <a:prstGeom prst="chevron">
            <a:avLst/>
          </a:prstGeom>
          <a:solidFill>
            <a:srgbClr val="2A4870"/>
          </a:solidFill>
          <a:ln>
            <a:noFill/>
          </a:ln>
          <a:effectLst/>
        </p:spPr>
        <p:txBody>
          <a:bodyPr rtlCol="0" anchor="ctr" wrap="square" lIns="310896" rIns="109728" tIns="0" bIns="0"/>
          <a:lstStyle/>
          <a:p>
            <a:pPr algn="ctr"/>
            <a:r>
              <a:rPr sz="1150" b="1">
                <a:solidFill>
                  <a:srgbClr val="FFFFFF"/>
                </a:solidFill>
                <a:latin typeface="Calibri"/>
              </a:rPr>
              <a:t>D · Mapa total</a:t>
            </a:r>
          </a:p>
          <a:p>
            <a:pPr algn="ctr"/>
            <a:r>
              <a:rPr sz="950">
                <a:solidFill>
                  <a:srgbClr val="C8D3E6"/>
                </a:solidFill>
                <a:latin typeface="Calibri"/>
              </a:rPr>
              <a:t>precomputado</a:t>
            </a:r>
          </a:p>
        </p:txBody>
      </p:sp>
      <p:sp>
        <p:nvSpPr>
          <p:cNvPr id="10" name="TextBox 9"/>
          <p:cNvSpPr txBox="1"/>
          <p:nvPr/>
        </p:nvSpPr>
        <p:spPr>
          <a:xfrm>
            <a:off x="914400" y="5358384"/>
            <a:ext cx="10332720" cy="365760"/>
          </a:xfrm>
          <a:prstGeom prst="rect">
            <a:avLst/>
          </a:prstGeom>
          <a:noFill/>
        </p:spPr>
        <p:txBody>
          <a:bodyPr wrap="square" anchor="t" lIns="0" rIns="0" tIns="0" bIns="0">
            <a:noAutofit/>
          </a:bodyPr>
          <a:lstStyle/>
          <a:p>
            <a:pPr algn="l">
              <a:lnSpc>
                <a:spcPct val="120000"/>
              </a:lnSpc>
              <a:spcBef>
                <a:spcPts val="0"/>
              </a:spcBef>
              <a:spcAft>
                <a:spcPts val="0"/>
              </a:spcAft>
            </a:pPr>
            <a:r>
              <a:rPr sz="1200" b="0" i="0">
                <a:solidFill>
                  <a:srgbClr val="C8D3E6"/>
                </a:solidFill>
                <a:latin typeface="Calibri"/>
              </a:rPr>
              <a:t>Ningún método gana en todo: cada uno compra optimalidad con información y la paga con cómputo o con robustez.</a:t>
            </a:r>
          </a:p>
        </p:txBody>
      </p:sp>
      <p:sp>
        <p:nvSpPr>
          <p:cNvPr id="11" name="TextBox 10"/>
          <p:cNvSpPr txBox="1"/>
          <p:nvPr/>
        </p:nvSpPr>
        <p:spPr>
          <a:xfrm>
            <a:off x="914400" y="6053328"/>
            <a:ext cx="10332720" cy="365760"/>
          </a:xfrm>
          <a:prstGeom prst="rect">
            <a:avLst/>
          </a:prstGeom>
          <a:noFill/>
        </p:spPr>
        <p:txBody>
          <a:bodyPr wrap="square" anchor="t" lIns="0" rIns="0" tIns="0" bIns="0">
            <a:noAutofit/>
          </a:bodyPr>
          <a:lstStyle/>
          <a:p>
            <a:pPr algn="l">
              <a:lnSpc>
                <a:spcPct val="100000"/>
              </a:lnSpc>
              <a:spcBef>
                <a:spcPts val="0"/>
              </a:spcBef>
              <a:spcAft>
                <a:spcPts val="0"/>
              </a:spcAft>
            </a:pPr>
            <a:r>
              <a:rPr sz="1100" b="1" i="0" spc="120">
                <a:solidFill>
                  <a:srgbClr val="FFFFFF"/>
                </a:solidFill>
                <a:latin typeface="Calibri"/>
              </a:rPr>
              <a:t>Gracias  ·  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Navegación de robots móviles: de lo reactivo a lo planificado</dc:title>
  <dc:subject>Robótica — Informe Capítulo 5 (partes A–D)</dc:subject>
  <dc:creator>Juan David Villota · Jhon Hesneydert Londoño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